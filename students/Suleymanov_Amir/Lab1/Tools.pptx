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7" r:id="rId3"/>
    <p:sldId id="277" r:id="rId4"/>
    <p:sldId id="284" r:id="rId5"/>
    <p:sldId id="285" r:id="rId6"/>
    <p:sldId id="286" r:id="rId7"/>
    <p:sldId id="287" r:id="rId8"/>
    <p:sldId id="283" r:id="rId9"/>
    <p:sldId id="288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7F3F9"/>
    <a:srgbClr val="7B36AD"/>
    <a:srgbClr val="A4E4F2"/>
    <a:srgbClr val="C5EDF7"/>
    <a:srgbClr val="1D1D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BED569-4797-4DF1-A0F4-6AAB3CD982D8}" styleName="Светлый стиль 3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3" d="100"/>
          <a:sy n="123" d="100"/>
        </p:scale>
        <p:origin x="80" y="1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5090A8F7-D0FC-B59A-2099-0E597CEAD0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65BF03E-9ECA-08B7-00C4-BBF643D8D7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F92F11-AEB1-492D-A474-C3E6C30CC360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AC73CE1-0B6D-2827-78A3-32BDEE7736C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86FAEC4-29A9-9BFF-4CD4-7DCCFFCDFFC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7A66A6-0F65-4600-8EB0-24980D7CDC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0076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222438-80B5-45A1-8442-95F44A1A4C5B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77218C-BFF1-4BE0-B4B9-46F979A41A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071122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1C6AC0-E0FF-69A5-DF7B-CF80EEC9C1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AD0E7F9-C055-0C75-CE42-9E854D2F57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6D8A437-6D53-3767-49EE-BEC8401F5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CC4B2-8DB4-4D29-AEB3-420F48CDFADE}" type="datetime1">
              <a:rPr lang="ru-RU" smtClean="0"/>
              <a:t>21.11.2025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DD00BF-2961-5A37-8419-3D3221E83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FA7801-6262-73CC-CFA1-7BB319365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DD33B-1976-4C49-9A56-2447F1B818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6497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209A78-ACD7-EDA9-1A76-89E497FC5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572C1B-F5FB-3E66-2E32-267D57797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61C30F9-2F26-CD11-F78A-25B26B028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4945C-9CAE-4A3C-8C36-EA0C04FF2E2C}" type="datetime1">
              <a:rPr lang="ru-RU" smtClean="0"/>
              <a:t>21.11.2025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1786A04-D66B-65E9-7852-B26CAC1A5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6581339-BC5D-96CE-E999-9A8CA7D0C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DD33B-1976-4C49-9A56-2447F1B818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0786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DE4BDE-4F3C-EE07-E374-DF733A492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DA7885E-007E-3B01-921D-1BE7B8F61A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8B06A93-427B-3EA9-9A02-D934994D4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196EF-D0A0-4764-B7D3-8937ABDA8E2B}" type="datetime1">
              <a:rPr lang="ru-RU" smtClean="0"/>
              <a:t>21.11.2025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D226BE9-3644-E999-9CE5-DB0D4281B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52B55A-FCBA-11E3-06B7-4978CF91D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DD33B-1976-4C49-9A56-2447F1B818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7560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4128BE-69BE-AEB4-00B7-850D68A98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49AF8B-E8BD-8598-319A-3211944D7B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753BD84-57D6-0887-C590-EB713A08B5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344B717-0A2E-B80A-FDF8-A7B207285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64C8A-52A2-4FE1-B939-6760DDA6B140}" type="datetime1">
              <a:rPr lang="ru-RU" smtClean="0"/>
              <a:t>21.11.2025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88B1023-6074-9627-0B93-5A0CF64F0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8A0C9D6-3C51-CBC9-4F4A-3E5C222A8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DD33B-1976-4C49-9A56-2447F1B818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6214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562E4C-0621-6198-25FB-F096D117B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2117BB8-09C3-5059-176E-5BCDD36407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18543C3-1E1A-4616-4F64-02981E2358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91AAC04-3112-6C88-2646-B2053ACA3A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FCECD5D-3777-98B6-FE04-8AA7EFD46C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A5D8AB8-98AD-640C-C197-E56E967B4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C55B-48CE-4A41-9C98-31D64297BA88}" type="datetime1">
              <a:rPr lang="ru-RU" smtClean="0"/>
              <a:t>21.11.2025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AF41C7E-B1DF-880C-0599-63211FF45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CC9F885-F266-D0C0-3401-8098F01B1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DD33B-1976-4C49-9A56-2447F1B818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5669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8E54F3-278A-0879-076A-44BA12BD9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D6A5366-44D3-FC5A-CC5F-3C43CF2EF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60A3A-A6B4-4914-9999-6BA2201474FA}" type="datetime1">
              <a:rPr lang="ru-RU" smtClean="0"/>
              <a:t>21.11.2025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60BD9A1-9B3E-C216-3839-3E1C05052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C1B6567-4C6B-2711-8903-0D64575D3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DD33B-1976-4C49-9A56-2447F1B818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0852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66810ED-FC46-D93B-9285-AF8413768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0039C-2184-43AB-B65A-AEA44676C29A}" type="datetime1">
              <a:rPr lang="ru-RU" smtClean="0"/>
              <a:t>21.11.2025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FABB8D7-E58B-F5D7-7274-B5485580A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F7A471D-14F4-E102-F048-5239DAE90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DD33B-1976-4C49-9A56-2447F1B818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2097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66CBCA-DDE5-DD87-FF1B-4379EAA8D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A898B08-8642-3C2B-97F5-B1880A4B4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241EE94-3ADA-516D-5693-D69D7E9548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7C83DB4-6139-DC86-BBB5-06B3B4A52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F41D3-69E3-4375-A619-D8A4FD599D56}" type="datetime1">
              <a:rPr lang="ru-RU" smtClean="0"/>
              <a:t>21.11.2025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35224A1-49D8-F5B4-E54B-DB86556C8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9A8A852-FC98-B6A1-1AB7-9A5032223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DD33B-1976-4C49-9A56-2447F1B818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3097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E9BBDA-626A-4278-1EAC-21923EBB0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4419D5D-2E2D-BEAE-BD78-E5DBE7E194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DEABE8D-865F-CB5E-29AC-98CEA13482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95B925B-FD93-43CA-8BA4-CCEB99CD5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4A7E9-FCC6-4927-85BF-17F64D9EE8C1}" type="datetime1">
              <a:rPr lang="ru-RU" smtClean="0"/>
              <a:t>21.11.2025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5C7F77B-139C-FB10-7840-ABE45B7ED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FD9AE69-415D-42E5-365F-799A4EC8B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DD33B-1976-4C49-9A56-2447F1B818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0984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27FBF3-FCCF-6478-28BB-957FEBAFB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3DAE77B-20BE-19C0-7299-E9D3768F3F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C2F3BD1-1F6D-59A1-DFC2-E344EFB4B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1148D-8AE7-4B58-A53F-86362F236D49}" type="datetime1">
              <a:rPr lang="ru-RU" smtClean="0"/>
              <a:t>21.11.2025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523D545-C19E-B8C5-22D1-DEB3010CF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A616A30-700C-2AB8-872B-D93801B2A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DD33B-1976-4C49-9A56-2447F1B818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0661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A8D1703-E063-51D0-4E5B-EE852544E5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8A32922-A5C8-9817-B9AD-E80D4794A5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D9D83BD-2FBA-ACF4-7161-162872402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726CB-CA55-4320-BBFE-E989E4FC8784}" type="datetime1">
              <a:rPr lang="ru-RU" smtClean="0"/>
              <a:t>21.11.2025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7753691-E877-6E9C-634C-0D4914E3D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12C11F4-D96E-DA00-1D06-A38D2AD92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DD33B-1976-4C49-9A56-2447F1B818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7532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8168BF-1B71-4BFC-9311-13008B3E0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1554B02-3377-5263-9D72-7983E8086D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66BCEA8-FFC0-135A-BA31-132BA4AF05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A5BD50-4876-42D2-977C-80213E6A6187}" type="datetime1">
              <a:rPr lang="ru-RU" smtClean="0"/>
              <a:t>21.11.2025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443C25D-E539-BCE6-A674-2D7169AEF7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BA68FCC-D76F-262C-2EC2-37F2A9540E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FDD33B-1976-4C49-9A56-2447F1B818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6205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842E613-7ACB-6461-0D4C-424A9DBEF5C9}"/>
              </a:ext>
            </a:extLst>
          </p:cNvPr>
          <p:cNvSpPr/>
          <p:nvPr/>
        </p:nvSpPr>
        <p:spPr>
          <a:xfrm>
            <a:off x="506186" y="342899"/>
            <a:ext cx="11250385" cy="6172202"/>
          </a:xfrm>
          <a:prstGeom prst="rect">
            <a:avLst/>
          </a:prstGeom>
          <a:solidFill>
            <a:srgbClr val="1D1D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3B0941-BD39-CA26-19CD-EEDEB6D662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45508" y="584112"/>
            <a:ext cx="8420005" cy="1453908"/>
          </a:xfrm>
        </p:spPr>
        <p:txBody>
          <a:bodyPr>
            <a:normAutofit/>
          </a:bodyPr>
          <a:lstStyle/>
          <a:p>
            <a:r>
              <a:rPr lang="ru-RU" sz="1600" dirty="0">
                <a:solidFill>
                  <a:srgbClr val="A4E4F2"/>
                </a:solidFill>
                <a:latin typeface="Actay Wide Bd" pitchFamily="50" charset="-52"/>
              </a:rPr>
              <a:t>Министерства науки и высшего образования Российской Федерации</a:t>
            </a:r>
            <a:br>
              <a:rPr lang="ru-RU" sz="1600" dirty="0">
                <a:solidFill>
                  <a:srgbClr val="A4E4F2"/>
                </a:solidFill>
                <a:latin typeface="Actay Wide Bd" pitchFamily="50" charset="-52"/>
              </a:rPr>
            </a:br>
            <a:r>
              <a:rPr lang="ru-RU" sz="1600" dirty="0">
                <a:solidFill>
                  <a:srgbClr val="A4E4F2"/>
                </a:solidFill>
                <a:latin typeface="Actay Wide Bd" pitchFamily="50" charset="-52"/>
              </a:rPr>
              <a:t>Федеральное государственное бюджетное образовательно учреждение высшего образования</a:t>
            </a:r>
            <a:br>
              <a:rPr lang="ru-RU" sz="1600" dirty="0">
                <a:solidFill>
                  <a:srgbClr val="A4E4F2"/>
                </a:solidFill>
                <a:latin typeface="Actay Wide Bd" pitchFamily="50" charset="-52"/>
              </a:rPr>
            </a:br>
            <a:r>
              <a:rPr lang="ru-RU" sz="1600" dirty="0">
                <a:solidFill>
                  <a:srgbClr val="A4E4F2"/>
                </a:solidFill>
                <a:latin typeface="Actay Wide Bd" pitchFamily="50" charset="-52"/>
              </a:rPr>
              <a:t>«Заполярный государственный университет имени Н. М. Федоровского»</a:t>
            </a:r>
            <a:br>
              <a:rPr lang="ru-RU" sz="1600" dirty="0">
                <a:solidFill>
                  <a:srgbClr val="A4E4F2"/>
                </a:solidFill>
                <a:latin typeface="Actay Wide Bd" pitchFamily="50" charset="-52"/>
              </a:rPr>
            </a:br>
            <a:r>
              <a:rPr lang="ru-RU" sz="1600" dirty="0">
                <a:solidFill>
                  <a:srgbClr val="A4E4F2"/>
                </a:solidFill>
                <a:latin typeface="Actay Wide Bd" pitchFamily="50" charset="-52"/>
              </a:rPr>
              <a:t>Кафедра информационных систем и технологий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45F80BD-6477-D0B1-2AF1-2FBDE1E0A6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8872" y="2954768"/>
            <a:ext cx="6011027" cy="1763408"/>
          </a:xfrm>
        </p:spPr>
        <p:txBody>
          <a:bodyPr>
            <a:normAutofit fontScale="92500"/>
          </a:bodyPr>
          <a:lstStyle/>
          <a:p>
            <a:pPr algn="l"/>
            <a:r>
              <a:rPr lang="ru-RU" sz="4800" dirty="0">
                <a:solidFill>
                  <a:srgbClr val="A4E4F2"/>
                </a:solidFill>
                <a:latin typeface="Actay Wide Bd" pitchFamily="50" charset="-52"/>
              </a:rPr>
              <a:t>«</a:t>
            </a:r>
            <a:r>
              <a:rPr lang="ru-RU" sz="4000" kern="0" dirty="0">
                <a:solidFill>
                  <a:srgbClr val="A4E4F2"/>
                </a:solidFill>
                <a:effectLst/>
                <a:latin typeface="Actay Wide Bd" pitchFamily="50" charset="-52"/>
                <a:ea typeface="Times New Roman" panose="02020603050405020304" pitchFamily="18" charset="0"/>
              </a:rPr>
              <a:t>Инструменты управления задачами в </a:t>
            </a:r>
            <a:r>
              <a:rPr lang="ru-RU" sz="4000" kern="0" dirty="0" err="1">
                <a:solidFill>
                  <a:srgbClr val="A4E4F2"/>
                </a:solidFill>
                <a:effectLst/>
                <a:latin typeface="Actay Wide Bd" pitchFamily="50" charset="-52"/>
                <a:ea typeface="Times New Roman" panose="02020603050405020304" pitchFamily="18" charset="0"/>
              </a:rPr>
              <a:t>Agile</a:t>
            </a:r>
            <a:r>
              <a:rPr lang="ru-RU" sz="4000" kern="0" dirty="0">
                <a:solidFill>
                  <a:srgbClr val="A4E4F2"/>
                </a:solidFill>
                <a:effectLst/>
                <a:latin typeface="Actay Wide Bd" pitchFamily="50" charset="-52"/>
                <a:ea typeface="Times New Roman" panose="02020603050405020304" pitchFamily="18" charset="0"/>
              </a:rPr>
              <a:t>-проектах</a:t>
            </a:r>
            <a:r>
              <a:rPr lang="ru-RU" sz="4800" dirty="0">
                <a:solidFill>
                  <a:srgbClr val="A4E4F2"/>
                </a:solidFill>
                <a:latin typeface="Actay Wide Bd" pitchFamily="50" charset="-52"/>
              </a:rPr>
              <a:t>»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C7F230-579A-EA99-4575-6BAD138F8C88}"/>
              </a:ext>
            </a:extLst>
          </p:cNvPr>
          <p:cNvSpPr txBox="1"/>
          <p:nvPr/>
        </p:nvSpPr>
        <p:spPr>
          <a:xfrm>
            <a:off x="808873" y="4870845"/>
            <a:ext cx="327327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rgbClr val="A4E4F2"/>
                </a:solidFill>
                <a:latin typeface="Actay Wide Bd" pitchFamily="50" charset="-52"/>
              </a:rPr>
              <a:t>Работу выполнили:</a:t>
            </a:r>
          </a:p>
          <a:p>
            <a:r>
              <a:rPr lang="ru-RU" sz="1600" dirty="0">
                <a:solidFill>
                  <a:srgbClr val="A4E4F2"/>
                </a:solidFill>
                <a:latin typeface="Actay Wide Bd" pitchFamily="50" charset="-52"/>
              </a:rPr>
              <a:t>Студенты группы ИС-23</a:t>
            </a:r>
          </a:p>
          <a:p>
            <a:r>
              <a:rPr lang="ru-RU" sz="1600" dirty="0">
                <a:solidFill>
                  <a:srgbClr val="A4E4F2"/>
                </a:solidFill>
                <a:latin typeface="Actay Wide Bd" pitchFamily="50" charset="-52"/>
              </a:rPr>
              <a:t>Сулейманов А. Ш.</a:t>
            </a:r>
          </a:p>
          <a:p>
            <a:r>
              <a:rPr lang="ru-RU" sz="1600" dirty="0">
                <a:solidFill>
                  <a:srgbClr val="A4E4F2"/>
                </a:solidFill>
                <a:latin typeface="Actay Wide Bd" pitchFamily="50" charset="-52"/>
              </a:rPr>
              <a:t>Решетов В.В.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6B8C21-22B8-4065-BBC7-CF6624028405}"/>
              </a:ext>
            </a:extLst>
          </p:cNvPr>
          <p:cNvSpPr txBox="1"/>
          <p:nvPr/>
        </p:nvSpPr>
        <p:spPr>
          <a:xfrm>
            <a:off x="8614597" y="4993955"/>
            <a:ext cx="17657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solidFill>
                  <a:srgbClr val="A4E4F2"/>
                </a:solidFill>
                <a:latin typeface="Actay Wide Bd" pitchFamily="50" charset="-52"/>
              </a:rPr>
              <a:t>Работу проверил:</a:t>
            </a:r>
          </a:p>
          <a:p>
            <a:r>
              <a:rPr lang="ru-RU" sz="1600" dirty="0">
                <a:solidFill>
                  <a:srgbClr val="A4E4F2"/>
                </a:solidFill>
                <a:latin typeface="Actay Wide Bd" pitchFamily="50" charset="-52"/>
              </a:rPr>
              <a:t>Сидельников М.Э.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EAB93F0-E29B-E56F-3985-E16EB02A77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872" y="4263197"/>
            <a:ext cx="5842299" cy="30230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D9F18B4-3BC3-8D9C-7F9F-975FB2F86B05}"/>
              </a:ext>
            </a:extLst>
          </p:cNvPr>
          <p:cNvSpPr txBox="1"/>
          <p:nvPr/>
        </p:nvSpPr>
        <p:spPr>
          <a:xfrm>
            <a:off x="5217035" y="6008550"/>
            <a:ext cx="20763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rgbClr val="A4E4F2"/>
                </a:solidFill>
                <a:latin typeface="Actay Wide Bd" pitchFamily="50" charset="-52"/>
              </a:rPr>
              <a:t>Норильск, 2025</a:t>
            </a:r>
          </a:p>
        </p:txBody>
      </p:sp>
    </p:spTree>
    <p:extLst>
      <p:ext uri="{BB962C8B-B14F-4D97-AF65-F5344CB8AC3E}">
        <p14:creationId xmlns:p14="http://schemas.microsoft.com/office/powerpoint/2010/main" val="866068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B8AF461-A5CF-626C-EE3B-17BF204D39DA}"/>
              </a:ext>
            </a:extLst>
          </p:cNvPr>
          <p:cNvSpPr/>
          <p:nvPr/>
        </p:nvSpPr>
        <p:spPr>
          <a:xfrm>
            <a:off x="506186" y="342899"/>
            <a:ext cx="11250385" cy="6172202"/>
          </a:xfrm>
          <a:prstGeom prst="rect">
            <a:avLst/>
          </a:prstGeom>
          <a:solidFill>
            <a:srgbClr val="1D1D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99642FE-FDC4-3DB2-DAAD-7CC3BDDF0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6921" y="2113045"/>
            <a:ext cx="8028913" cy="3171877"/>
          </a:xfrm>
        </p:spPr>
        <p:txBody>
          <a:bodyPr>
            <a:normAutofit/>
          </a:bodyPr>
          <a:lstStyle/>
          <a:p>
            <a:r>
              <a:rPr lang="ru-RU" sz="2000" dirty="0" err="1">
                <a:solidFill>
                  <a:srgbClr val="D7F3F9"/>
                </a:solidFill>
                <a:latin typeface="Actay Wide Bd" pitchFamily="50" charset="-52"/>
              </a:rPr>
              <a:t>Agile</a:t>
            </a:r>
            <a:r>
              <a:rPr lang="ru-RU" sz="2000" dirty="0">
                <a:solidFill>
                  <a:srgbClr val="D7F3F9"/>
                </a:solidFill>
                <a:latin typeface="Actay Wide Bd" pitchFamily="50" charset="-52"/>
              </a:rPr>
              <a:t>-проекты требуют гибкости, прозрачности и быстрой обратной связи</a:t>
            </a:r>
          </a:p>
          <a:p>
            <a:r>
              <a:rPr lang="ru-RU" sz="2000" dirty="0">
                <a:solidFill>
                  <a:srgbClr val="D7F3F9"/>
                </a:solidFill>
                <a:latin typeface="Actay Wide Bd" pitchFamily="50" charset="-52"/>
              </a:rPr>
              <a:t>Инструменты помогают:</a:t>
            </a:r>
          </a:p>
          <a:p>
            <a:pPr marL="0" indent="0">
              <a:buNone/>
            </a:pPr>
            <a:r>
              <a:rPr lang="ru-RU" sz="2000" dirty="0">
                <a:solidFill>
                  <a:srgbClr val="D7F3F9"/>
                </a:solidFill>
                <a:latin typeface="Actay Wide Bd" pitchFamily="50" charset="-52"/>
              </a:rPr>
              <a:t>        ✅ Визуализировать задачи</a:t>
            </a:r>
          </a:p>
          <a:p>
            <a:pPr marL="0" indent="0">
              <a:buNone/>
            </a:pPr>
            <a:r>
              <a:rPr lang="ru-RU" sz="2000" dirty="0">
                <a:solidFill>
                  <a:srgbClr val="D7F3F9"/>
                </a:solidFill>
                <a:latin typeface="Actay Wide Bd" pitchFamily="50" charset="-52"/>
              </a:rPr>
              <a:t>        ✅ Отслеживать прогресс</a:t>
            </a:r>
          </a:p>
          <a:p>
            <a:pPr marL="0" indent="0">
              <a:buNone/>
            </a:pPr>
            <a:r>
              <a:rPr lang="ru-RU" sz="2000" dirty="0">
                <a:solidFill>
                  <a:srgbClr val="D7F3F9"/>
                </a:solidFill>
                <a:latin typeface="Actay Wide Bd" pitchFamily="50" charset="-52"/>
              </a:rPr>
              <a:t>        ✅ Распределять ответственность</a:t>
            </a:r>
          </a:p>
          <a:p>
            <a:pPr marL="0" indent="0">
              <a:buNone/>
            </a:pPr>
            <a:r>
              <a:rPr lang="ru-RU" sz="2000" dirty="0">
                <a:solidFill>
                  <a:srgbClr val="D7F3F9"/>
                </a:solidFill>
                <a:latin typeface="Actay Wide Bd" pitchFamily="50" charset="-52"/>
              </a:rPr>
              <a:t>        ✅ Интегрировать с </a:t>
            </a:r>
            <a:r>
              <a:rPr lang="ru-RU" sz="2000" dirty="0" err="1">
                <a:solidFill>
                  <a:srgbClr val="D7F3F9"/>
                </a:solidFill>
                <a:latin typeface="Actay Wide Bd" pitchFamily="50" charset="-52"/>
              </a:rPr>
              <a:t>Git</a:t>
            </a:r>
            <a:r>
              <a:rPr lang="ru-RU" sz="2000" dirty="0">
                <a:solidFill>
                  <a:srgbClr val="D7F3F9"/>
                </a:solidFill>
                <a:latin typeface="Actay Wide Bd" pitchFamily="50" charset="-52"/>
              </a:rPr>
              <a:t>, CI/CD, чатами</a:t>
            </a:r>
          </a:p>
          <a:p>
            <a:r>
              <a:rPr lang="ru-RU" sz="2000" dirty="0">
                <a:solidFill>
                  <a:srgbClr val="D7F3F9"/>
                </a:solidFill>
                <a:latin typeface="Actay Wide Bd" pitchFamily="50" charset="-52"/>
              </a:rPr>
              <a:t>Без инструментов — хаос, дублирование, потери задач</a:t>
            </a:r>
          </a:p>
        </p:txBody>
      </p:sp>
      <p:sp>
        <p:nvSpPr>
          <p:cNvPr id="5" name="Номер слайда 1">
            <a:extLst>
              <a:ext uri="{FF2B5EF4-FFF2-40B4-BE49-F238E27FC236}">
                <a16:creationId xmlns:a16="http://schemas.microsoft.com/office/drawing/2014/main" id="{66CCBE08-5826-CC19-4660-874D473781A9}"/>
              </a:ext>
            </a:extLst>
          </p:cNvPr>
          <p:cNvSpPr txBox="1">
            <a:spLocks/>
          </p:cNvSpPr>
          <p:nvPr/>
        </p:nvSpPr>
        <p:spPr>
          <a:xfrm>
            <a:off x="11756571" y="6428923"/>
            <a:ext cx="261256" cy="349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FDD33B-1976-4C49-9A56-2447F1B818AF}" type="slidenum">
              <a:rPr lang="ru-RU" sz="1400" b="1" smtClean="0">
                <a:solidFill>
                  <a:srgbClr val="A4E4F2"/>
                </a:solidFill>
              </a:rPr>
              <a:pPr/>
              <a:t>2</a:t>
            </a:fld>
            <a:endParaRPr lang="ru-RU" sz="1400" b="1" dirty="0">
              <a:solidFill>
                <a:srgbClr val="A4E4F2"/>
              </a:solidFill>
            </a:endParaRP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A1D6CB85-EEC4-3E98-57C9-33348B1F3A9B}"/>
              </a:ext>
            </a:extLst>
          </p:cNvPr>
          <p:cNvSpPr txBox="1">
            <a:spLocks/>
          </p:cNvSpPr>
          <p:nvPr/>
        </p:nvSpPr>
        <p:spPr>
          <a:xfrm>
            <a:off x="845628" y="342899"/>
            <a:ext cx="1029765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800" dirty="0">
                <a:solidFill>
                  <a:srgbClr val="A4E4F2"/>
                </a:solidFill>
                <a:latin typeface="Actay Wide Bd" pitchFamily="50" charset="-52"/>
              </a:rPr>
              <a:t>Зачем нужны инструменты управления в </a:t>
            </a:r>
            <a:r>
              <a:rPr lang="ru-RU" sz="3800" dirty="0" err="1">
                <a:solidFill>
                  <a:srgbClr val="A4E4F2"/>
                </a:solidFill>
                <a:latin typeface="Actay Wide Bd" pitchFamily="50" charset="-52"/>
              </a:rPr>
              <a:t>Agile</a:t>
            </a:r>
            <a:r>
              <a:rPr lang="ru-RU" sz="3800" dirty="0">
                <a:solidFill>
                  <a:srgbClr val="A4E4F2"/>
                </a:solidFill>
                <a:latin typeface="Actay Wide Bd" pitchFamily="50" charset="-52"/>
              </a:rPr>
              <a:t>?: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0E346F9-E8AF-7F23-C39B-F985B3D84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379" y="1380884"/>
            <a:ext cx="10085936" cy="346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335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7B44F9-43B6-7686-ED23-BFCF412C3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3093637-09B6-45EE-ECEC-0BB327847019}"/>
              </a:ext>
            </a:extLst>
          </p:cNvPr>
          <p:cNvSpPr/>
          <p:nvPr/>
        </p:nvSpPr>
        <p:spPr>
          <a:xfrm>
            <a:off x="506186" y="342899"/>
            <a:ext cx="11250385" cy="6172202"/>
          </a:xfrm>
          <a:prstGeom prst="rect">
            <a:avLst/>
          </a:prstGeom>
          <a:solidFill>
            <a:srgbClr val="1D1D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Номер слайда 1">
            <a:extLst>
              <a:ext uri="{FF2B5EF4-FFF2-40B4-BE49-F238E27FC236}">
                <a16:creationId xmlns:a16="http://schemas.microsoft.com/office/drawing/2014/main" id="{48EC4C76-D30D-94F3-EB5C-9553CD7828E5}"/>
              </a:ext>
            </a:extLst>
          </p:cNvPr>
          <p:cNvSpPr txBox="1">
            <a:spLocks/>
          </p:cNvSpPr>
          <p:nvPr/>
        </p:nvSpPr>
        <p:spPr>
          <a:xfrm>
            <a:off x="11597545" y="6428923"/>
            <a:ext cx="420282" cy="349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FDD33B-1976-4C49-9A56-2447F1B818AF}" type="slidenum">
              <a:rPr lang="ru-RU" sz="1400" b="1" smtClean="0">
                <a:solidFill>
                  <a:srgbClr val="A4E4F2"/>
                </a:solidFill>
              </a:rPr>
              <a:pPr/>
              <a:t>3</a:t>
            </a:fld>
            <a:endParaRPr lang="ru-RU" sz="1400" b="1" dirty="0">
              <a:solidFill>
                <a:srgbClr val="A4E4F2"/>
              </a:solidFill>
            </a:endParaRP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F04488DD-182F-D593-7852-C7C01852CD88}"/>
              </a:ext>
            </a:extLst>
          </p:cNvPr>
          <p:cNvSpPr txBox="1">
            <a:spLocks/>
          </p:cNvSpPr>
          <p:nvPr/>
        </p:nvSpPr>
        <p:spPr>
          <a:xfrm>
            <a:off x="2701871" y="344882"/>
            <a:ext cx="703623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800" dirty="0">
                <a:solidFill>
                  <a:srgbClr val="A4E4F2"/>
                </a:solidFill>
                <a:latin typeface="Actay Wide Bd" pitchFamily="50" charset="-52"/>
              </a:rPr>
              <a:t>Обзор выбранных инструментов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439DC4-2C25-B684-EE32-7ADAB40EADA8}"/>
              </a:ext>
            </a:extLst>
          </p:cNvPr>
          <p:cNvSpPr txBox="1"/>
          <p:nvPr/>
        </p:nvSpPr>
        <p:spPr>
          <a:xfrm>
            <a:off x="1397907" y="2252524"/>
            <a:ext cx="10199638" cy="2352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indent="457200" algn="just" eaLnBrk="0" fontAlgn="base" hangingPunct="0">
              <a:lnSpc>
                <a:spcPct val="150000"/>
              </a:lnSpc>
              <a:spcAft>
                <a:spcPct val="0"/>
              </a:spcAft>
              <a:buFontTx/>
              <a:buChar char="•"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 </a:t>
            </a:r>
            <a:r>
              <a:rPr lang="ru-RU" sz="2000" dirty="0">
                <a:solidFill>
                  <a:srgbClr val="D7F3F9"/>
                </a:solidFill>
                <a:latin typeface="Actay Wide Bd" pitchFamily="50" charset="-52"/>
              </a:rPr>
              <a:t>Внедрение AI позволило автоматизировать до 80% </a:t>
            </a:r>
            <a:r>
              <a:rPr lang="ru-RU" sz="2000" dirty="0" err="1">
                <a:solidFill>
                  <a:srgbClr val="D7F3F9"/>
                </a:solidFill>
                <a:latin typeface="Actay Wide Bd" pitchFamily="50" charset="-52"/>
              </a:rPr>
              <a:t>пайплайна</a:t>
            </a:r>
            <a:r>
              <a:rPr lang="ru-RU" sz="2000" dirty="0">
                <a:solidFill>
                  <a:srgbClr val="D7F3F9"/>
                </a:solidFill>
                <a:latin typeface="Actay Wide Bd" pitchFamily="50" charset="-52"/>
              </a:rPr>
              <a:t> создания персонажа.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rgbClr val="D7F3F9"/>
              </a:solidFill>
              <a:effectLst/>
              <a:latin typeface="Actay Wide Bd" pitchFamily="50" charset="-52"/>
            </a:endParaRPr>
          </a:p>
          <a:p>
            <a:pPr lvl="0" indent="457200" algn="just" eaLnBrk="0" fontAlgn="base" hangingPunct="0">
              <a:lnSpc>
                <a:spcPct val="150000"/>
              </a:lnSpc>
              <a:spcAft>
                <a:spcPct val="0"/>
              </a:spcAft>
              <a:buFontTx/>
              <a:buChar char="•"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 </a:t>
            </a:r>
            <a:r>
              <a:rPr lang="ru-RU" sz="2000" dirty="0">
                <a:solidFill>
                  <a:srgbClr val="D7F3F9"/>
                </a:solidFill>
                <a:latin typeface="Actay Wide Bd" pitchFamily="50" charset="-52"/>
              </a:rPr>
              <a:t>Сроки разработки сократились с 3–5 дней до 2–4 часов.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rgbClr val="D7F3F9"/>
              </a:solidFill>
              <a:effectLst/>
              <a:latin typeface="Actay Wide Bd" pitchFamily="50" charset="-52"/>
            </a:endParaRPr>
          </a:p>
          <a:p>
            <a:pPr lvl="0" indent="457200" algn="just" eaLnBrk="0" fontAlgn="base" hangingPunct="0">
              <a:lnSpc>
                <a:spcPct val="150000"/>
              </a:lnSpc>
              <a:spcAft>
                <a:spcPct val="0"/>
              </a:spcAft>
              <a:buFontTx/>
              <a:buChar char="•"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 </a:t>
            </a:r>
            <a:r>
              <a:rPr lang="ru-RU" sz="2000" dirty="0">
                <a:solidFill>
                  <a:srgbClr val="D7F3F9"/>
                </a:solidFill>
                <a:latin typeface="Actay Wide Bd" pitchFamily="50" charset="-52"/>
              </a:rPr>
              <a:t>Эксперты сосредоточены только на уникальных и сложных задачах.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rgbClr val="D7F3F9"/>
              </a:solidFill>
              <a:effectLst/>
              <a:latin typeface="Actay Wide Bd" pitchFamily="50" charset="-52"/>
            </a:endParaRPr>
          </a:p>
          <a:p>
            <a:pPr lvl="0" indent="457200" algn="just" eaLnBrk="0" fontAlgn="base" hangingPunct="0">
              <a:lnSpc>
                <a:spcPct val="150000"/>
              </a:lnSpc>
              <a:spcAft>
                <a:spcPct val="0"/>
              </a:spcAft>
              <a:buFontTx/>
              <a:buChar char="•"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 </a:t>
            </a:r>
            <a:r>
              <a:rPr lang="ru-RU" sz="2000" dirty="0">
                <a:solidFill>
                  <a:srgbClr val="D7F3F9"/>
                </a:solidFill>
                <a:latin typeface="Actay Wide Bd" pitchFamily="50" charset="-52"/>
              </a:rPr>
              <a:t>Повысилась масштабируемость и стабильность процесса.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rgbClr val="D7F3F9"/>
              </a:solidFill>
              <a:effectLst/>
              <a:latin typeface="Actay Wide Bd" pitchFamily="50" charset="-52"/>
            </a:endParaRPr>
          </a:p>
          <a:p>
            <a:pPr lvl="0" indent="457200" algn="just" eaLnBrk="0" fontAlgn="base" hangingPunct="0">
              <a:lnSpc>
                <a:spcPct val="150000"/>
              </a:lnSpc>
              <a:spcAft>
                <a:spcPct val="0"/>
              </a:spcAft>
              <a:buFontTx/>
              <a:buChar char="•"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 </a:t>
            </a:r>
            <a:r>
              <a:rPr lang="ru-RU" sz="2000" dirty="0">
                <a:solidFill>
                  <a:srgbClr val="D7F3F9"/>
                </a:solidFill>
                <a:latin typeface="Actay Wide Bd" pitchFamily="50" charset="-52"/>
              </a:rPr>
              <a:t>TO-BE модель эффективна как технологически, так и экономически.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rgbClr val="D7F3F9"/>
              </a:solidFill>
              <a:effectLst/>
              <a:latin typeface="Actay Wide Bd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298495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3082D5-DBC8-8C04-5DA0-D0DD612EF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9328A00-1263-73E6-D841-4A6B9B1249A2}"/>
              </a:ext>
            </a:extLst>
          </p:cNvPr>
          <p:cNvSpPr/>
          <p:nvPr/>
        </p:nvSpPr>
        <p:spPr>
          <a:xfrm>
            <a:off x="506186" y="342899"/>
            <a:ext cx="11250385" cy="6172202"/>
          </a:xfrm>
          <a:prstGeom prst="rect">
            <a:avLst/>
          </a:prstGeom>
          <a:solidFill>
            <a:srgbClr val="1D1D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Номер слайда 1">
            <a:extLst>
              <a:ext uri="{FF2B5EF4-FFF2-40B4-BE49-F238E27FC236}">
                <a16:creationId xmlns:a16="http://schemas.microsoft.com/office/drawing/2014/main" id="{DF55E8BC-A5EA-D483-F66C-AD6D02A6275C}"/>
              </a:ext>
            </a:extLst>
          </p:cNvPr>
          <p:cNvSpPr txBox="1">
            <a:spLocks/>
          </p:cNvSpPr>
          <p:nvPr/>
        </p:nvSpPr>
        <p:spPr>
          <a:xfrm>
            <a:off x="11597545" y="6428923"/>
            <a:ext cx="420282" cy="349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FDD33B-1976-4C49-9A56-2447F1B818AF}" type="slidenum">
              <a:rPr lang="ru-RU" sz="1400" b="1" smtClean="0">
                <a:solidFill>
                  <a:srgbClr val="A4E4F2"/>
                </a:solidFill>
              </a:rPr>
              <a:pPr/>
              <a:t>4</a:t>
            </a:fld>
            <a:endParaRPr lang="ru-RU" sz="1400" b="1" dirty="0">
              <a:solidFill>
                <a:srgbClr val="A4E4F2"/>
              </a:solidFill>
            </a:endParaRP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2EED6BFA-B533-25DF-1127-C5FF30DAA9E6}"/>
              </a:ext>
            </a:extLst>
          </p:cNvPr>
          <p:cNvSpPr txBox="1">
            <a:spLocks/>
          </p:cNvSpPr>
          <p:nvPr/>
        </p:nvSpPr>
        <p:spPr>
          <a:xfrm>
            <a:off x="2701871" y="344882"/>
            <a:ext cx="676759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800" dirty="0">
                <a:solidFill>
                  <a:srgbClr val="A4E4F2"/>
                </a:solidFill>
                <a:latin typeface="Actay Wide Bd" pitchFamily="50" charset="-52"/>
              </a:rPr>
              <a:t>Поддержка </a:t>
            </a:r>
            <a:r>
              <a:rPr lang="en-US" sz="3800" dirty="0">
                <a:solidFill>
                  <a:srgbClr val="A4E4F2"/>
                </a:solidFill>
                <a:latin typeface="Actay Wide Bd" pitchFamily="50" charset="-52"/>
              </a:rPr>
              <a:t>Agile-</a:t>
            </a:r>
            <a:r>
              <a:rPr lang="ru-RU" sz="3800" dirty="0">
                <a:solidFill>
                  <a:srgbClr val="A4E4F2"/>
                </a:solidFill>
                <a:latin typeface="Actay Wide Bd" pitchFamily="50" charset="-52"/>
              </a:rPr>
              <a:t>методологий</a:t>
            </a: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3D5C19A1-FF6B-8BFF-167C-F53FAB34B2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1134687"/>
              </p:ext>
            </p:extLst>
          </p:nvPr>
        </p:nvGraphicFramePr>
        <p:xfrm>
          <a:off x="873578" y="2346607"/>
          <a:ext cx="10515600" cy="2164785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1933473">
                  <a:extLst>
                    <a:ext uri="{9D8B030D-6E8A-4147-A177-3AD203B41FA5}">
                      <a16:colId xmlns:a16="http://schemas.microsoft.com/office/drawing/2014/main" val="372721738"/>
                    </a:ext>
                  </a:extLst>
                </a:gridCol>
                <a:gridCol w="2307694">
                  <a:extLst>
                    <a:ext uri="{9D8B030D-6E8A-4147-A177-3AD203B41FA5}">
                      <a16:colId xmlns:a16="http://schemas.microsoft.com/office/drawing/2014/main" val="3183986372"/>
                    </a:ext>
                  </a:extLst>
                </a:gridCol>
                <a:gridCol w="1634097">
                  <a:extLst>
                    <a:ext uri="{9D8B030D-6E8A-4147-A177-3AD203B41FA5}">
                      <a16:colId xmlns:a16="http://schemas.microsoft.com/office/drawing/2014/main" val="1395172937"/>
                    </a:ext>
                  </a:extLst>
                </a:gridCol>
                <a:gridCol w="2195428">
                  <a:extLst>
                    <a:ext uri="{9D8B030D-6E8A-4147-A177-3AD203B41FA5}">
                      <a16:colId xmlns:a16="http://schemas.microsoft.com/office/drawing/2014/main" val="3624567297"/>
                    </a:ext>
                  </a:extLst>
                </a:gridCol>
                <a:gridCol w="810811">
                  <a:extLst>
                    <a:ext uri="{9D8B030D-6E8A-4147-A177-3AD203B41FA5}">
                      <a16:colId xmlns:a16="http://schemas.microsoft.com/office/drawing/2014/main" val="3431881375"/>
                    </a:ext>
                  </a:extLst>
                </a:gridCol>
                <a:gridCol w="1634097">
                  <a:extLst>
                    <a:ext uri="{9D8B030D-6E8A-4147-A177-3AD203B41FA5}">
                      <a16:colId xmlns:a16="http://schemas.microsoft.com/office/drawing/2014/main" val="977997552"/>
                    </a:ext>
                  </a:extLst>
                </a:gridCol>
              </a:tblGrid>
              <a:tr h="1933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1" u="none" strike="noStrike" dirty="0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Инструмент</a:t>
                      </a:r>
                      <a:endParaRPr lang="ru-RU" sz="2000" b="1" i="0" u="none" strike="noStrike" dirty="0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237" marR="6237" marT="623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 dirty="0">
                          <a:solidFill>
                            <a:srgbClr val="D7F3F9"/>
                          </a:solidFill>
                          <a:effectLst/>
                        </a:rPr>
                        <a:t>Scrum</a:t>
                      </a:r>
                      <a:endParaRPr lang="en-US" sz="2000" b="1" i="0" u="none" strike="noStrike" dirty="0">
                        <a:solidFill>
                          <a:srgbClr val="D7F3F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37" marR="6237" marT="623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 dirty="0">
                          <a:solidFill>
                            <a:srgbClr val="D7F3F9"/>
                          </a:solidFill>
                          <a:effectLst/>
                        </a:rPr>
                        <a:t>Kanban</a:t>
                      </a:r>
                      <a:endParaRPr lang="en-US" sz="2000" b="1" i="0" u="none" strike="noStrike" dirty="0">
                        <a:solidFill>
                          <a:srgbClr val="D7F3F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37" marR="6237" marT="623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 dirty="0">
                          <a:solidFill>
                            <a:srgbClr val="D7F3F9"/>
                          </a:solidFill>
                          <a:effectLst/>
                        </a:rPr>
                        <a:t>Backlog</a:t>
                      </a:r>
                      <a:endParaRPr lang="en-US" sz="2000" b="1" i="0" u="none" strike="noStrike" dirty="0">
                        <a:solidFill>
                          <a:srgbClr val="D7F3F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37" marR="6237" marT="623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 dirty="0">
                          <a:solidFill>
                            <a:srgbClr val="D7F3F9"/>
                          </a:solidFill>
                          <a:effectLst/>
                        </a:rPr>
                        <a:t>Burndown</a:t>
                      </a:r>
                      <a:endParaRPr lang="en-US" sz="2000" b="1" i="0" u="none" strike="noStrike" dirty="0">
                        <a:solidFill>
                          <a:srgbClr val="D7F3F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37" marR="6237" marT="623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 dirty="0">
                          <a:solidFill>
                            <a:srgbClr val="D7F3F9"/>
                          </a:solidFill>
                          <a:effectLst/>
                        </a:rPr>
                        <a:t>WIP-</a:t>
                      </a:r>
                      <a:r>
                        <a:rPr lang="ru-RU" sz="2000" b="1" u="none" strike="noStrike" dirty="0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лимиты</a:t>
                      </a:r>
                      <a:endParaRPr lang="ru-RU" sz="2000" b="1" i="0" u="none" strike="noStrike" dirty="0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237" marR="6237" marT="6237" marB="0" anchor="ctr"/>
                </a:tc>
                <a:extLst>
                  <a:ext uri="{0D108BD9-81ED-4DB2-BD59-A6C34878D82A}">
                    <a16:rowId xmlns:a16="http://schemas.microsoft.com/office/drawing/2014/main" val="3086125917"/>
                  </a:ext>
                </a:extLst>
              </a:tr>
              <a:tr h="1933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u="none" strike="noStrike" dirty="0">
                          <a:solidFill>
                            <a:srgbClr val="D7F3F9"/>
                          </a:solidFill>
                          <a:effectLst/>
                        </a:rPr>
                        <a:t>Jira</a:t>
                      </a:r>
                      <a:endParaRPr lang="en-US" sz="2000" b="0" i="0" u="none" strike="noStrike" dirty="0">
                        <a:solidFill>
                          <a:srgbClr val="D7F3F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37" marR="6237" marT="623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✅ Нативно</a:t>
                      </a:r>
                      <a:endParaRPr lang="ru-RU" sz="2000" b="0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237" marR="6237" marT="623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✅</a:t>
                      </a:r>
                      <a:endParaRPr lang="ru-RU" sz="2000" b="0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237" marR="6237" marT="623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✅</a:t>
                      </a:r>
                      <a:endParaRPr lang="ru-RU" sz="2000" b="0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237" marR="6237" marT="623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✅</a:t>
                      </a:r>
                      <a:endParaRPr lang="ru-RU" sz="2000" b="0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237" marR="6237" marT="623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✅</a:t>
                      </a:r>
                      <a:endParaRPr lang="ru-RU" sz="2000" b="0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237" marR="6237" marT="6237" marB="0" anchor="ctr"/>
                </a:tc>
                <a:extLst>
                  <a:ext uri="{0D108BD9-81ED-4DB2-BD59-A6C34878D82A}">
                    <a16:rowId xmlns:a16="http://schemas.microsoft.com/office/drawing/2014/main" val="3443792349"/>
                  </a:ext>
                </a:extLst>
              </a:tr>
              <a:tr h="1933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u="none" strike="noStrike" dirty="0">
                          <a:solidFill>
                            <a:srgbClr val="D7F3F9"/>
                          </a:solidFill>
                          <a:effectLst/>
                        </a:rPr>
                        <a:t>Trello</a:t>
                      </a:r>
                      <a:endParaRPr lang="en-US" sz="2000" b="0" i="0" u="none" strike="noStrike" dirty="0">
                        <a:solidFill>
                          <a:srgbClr val="D7F3F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37" marR="6237" marT="623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u="none" strike="noStrike" dirty="0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⚠️ Через </a:t>
                      </a:r>
                      <a:r>
                        <a:rPr lang="en-US" sz="2000" b="0" u="none" strike="noStrike" dirty="0">
                          <a:solidFill>
                            <a:srgbClr val="D7F3F9"/>
                          </a:solidFill>
                          <a:effectLst/>
                        </a:rPr>
                        <a:t>Power-Ups</a:t>
                      </a:r>
                      <a:endParaRPr lang="en-US" sz="2000" b="0" i="0" u="none" strike="noStrike" dirty="0">
                        <a:solidFill>
                          <a:srgbClr val="D7F3F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37" marR="6237" marT="623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✅ Нативно</a:t>
                      </a:r>
                      <a:endParaRPr lang="ru-RU" sz="2000" b="0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237" marR="6237" marT="623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⚠️ Ограничен</a:t>
                      </a:r>
                      <a:endParaRPr lang="ru-RU" sz="2000" b="0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237" marR="6237" marT="623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❌</a:t>
                      </a:r>
                      <a:endParaRPr lang="ru-RU" sz="2000" b="0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237" marR="6237" marT="623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⚠️ Платно</a:t>
                      </a:r>
                      <a:endParaRPr lang="ru-RU" sz="2000" b="0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237" marR="6237" marT="6237" marB="0" anchor="ctr"/>
                </a:tc>
                <a:extLst>
                  <a:ext uri="{0D108BD9-81ED-4DB2-BD59-A6C34878D82A}">
                    <a16:rowId xmlns:a16="http://schemas.microsoft.com/office/drawing/2014/main" val="784295558"/>
                  </a:ext>
                </a:extLst>
              </a:tr>
              <a:tr h="1933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u="none" strike="noStrike" dirty="0">
                          <a:solidFill>
                            <a:srgbClr val="D7F3F9"/>
                          </a:solidFill>
                          <a:effectLst/>
                        </a:rPr>
                        <a:t>Asana</a:t>
                      </a:r>
                      <a:endParaRPr lang="en-US" sz="2000" b="0" i="0" u="none" strike="noStrike" dirty="0">
                        <a:solidFill>
                          <a:srgbClr val="D7F3F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37" marR="6237" marT="623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⚠️ Кастомизация</a:t>
                      </a:r>
                      <a:endParaRPr lang="ru-RU" sz="2000" b="0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237" marR="6237" marT="623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✅</a:t>
                      </a:r>
                      <a:endParaRPr lang="ru-RU" sz="2000" b="0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237" marR="6237" marT="623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✅</a:t>
                      </a:r>
                      <a:endParaRPr lang="ru-RU" sz="2000" b="0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237" marR="6237" marT="623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❌</a:t>
                      </a:r>
                      <a:endParaRPr lang="ru-RU" sz="2000" b="0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237" marR="6237" marT="623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❌</a:t>
                      </a:r>
                      <a:endParaRPr lang="ru-RU" sz="2000" b="0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237" marR="6237" marT="6237" marB="0" anchor="ctr"/>
                </a:tc>
                <a:extLst>
                  <a:ext uri="{0D108BD9-81ED-4DB2-BD59-A6C34878D82A}">
                    <a16:rowId xmlns:a16="http://schemas.microsoft.com/office/drawing/2014/main" val="1600481283"/>
                  </a:ext>
                </a:extLst>
              </a:tr>
              <a:tr h="1933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u="none" strike="noStrike" dirty="0" err="1">
                          <a:solidFill>
                            <a:srgbClr val="D7F3F9"/>
                          </a:solidFill>
                          <a:effectLst/>
                        </a:rPr>
                        <a:t>ClickUp</a:t>
                      </a:r>
                      <a:endParaRPr lang="en-US" sz="2000" b="0" i="0" u="none" strike="noStrike" dirty="0">
                        <a:solidFill>
                          <a:srgbClr val="D7F3F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37" marR="6237" marT="623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✅</a:t>
                      </a:r>
                      <a:endParaRPr lang="ru-RU" sz="2000" b="0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237" marR="6237" marT="623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✅</a:t>
                      </a:r>
                      <a:endParaRPr lang="ru-RU" sz="2000" b="0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237" marR="6237" marT="623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✅</a:t>
                      </a:r>
                      <a:endParaRPr lang="ru-RU" sz="2000" b="0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237" marR="6237" marT="623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✅</a:t>
                      </a:r>
                      <a:endParaRPr lang="ru-RU" sz="2000" b="0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237" marR="6237" marT="623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u="none" strike="noStrike" dirty="0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✅</a:t>
                      </a:r>
                      <a:endParaRPr lang="ru-RU" sz="2000" b="0" i="0" u="none" strike="noStrike" dirty="0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237" marR="6237" marT="6237" marB="0" anchor="ctr"/>
                </a:tc>
                <a:extLst>
                  <a:ext uri="{0D108BD9-81ED-4DB2-BD59-A6C34878D82A}">
                    <a16:rowId xmlns:a16="http://schemas.microsoft.com/office/drawing/2014/main" val="31083748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0926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A8447E-86C5-2469-54D8-897F4D4D0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96ABE6D-372A-B6B4-E01B-13DB8956A57E}"/>
              </a:ext>
            </a:extLst>
          </p:cNvPr>
          <p:cNvSpPr/>
          <p:nvPr/>
        </p:nvSpPr>
        <p:spPr>
          <a:xfrm>
            <a:off x="506186" y="342899"/>
            <a:ext cx="11250385" cy="6172202"/>
          </a:xfrm>
          <a:prstGeom prst="rect">
            <a:avLst/>
          </a:prstGeom>
          <a:solidFill>
            <a:srgbClr val="1D1D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Номер слайда 1">
            <a:extLst>
              <a:ext uri="{FF2B5EF4-FFF2-40B4-BE49-F238E27FC236}">
                <a16:creationId xmlns:a16="http://schemas.microsoft.com/office/drawing/2014/main" id="{444B5A63-2002-3DA9-41B1-1C781E0B2C13}"/>
              </a:ext>
            </a:extLst>
          </p:cNvPr>
          <p:cNvSpPr txBox="1">
            <a:spLocks/>
          </p:cNvSpPr>
          <p:nvPr/>
        </p:nvSpPr>
        <p:spPr>
          <a:xfrm>
            <a:off x="11597545" y="6428923"/>
            <a:ext cx="420282" cy="349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FDD33B-1976-4C49-9A56-2447F1B818AF}" type="slidenum">
              <a:rPr lang="ru-RU" sz="1400" b="1" smtClean="0">
                <a:solidFill>
                  <a:srgbClr val="A4E4F2"/>
                </a:solidFill>
              </a:rPr>
              <a:pPr/>
              <a:t>5</a:t>
            </a:fld>
            <a:endParaRPr lang="ru-RU" sz="1400" b="1" dirty="0">
              <a:solidFill>
                <a:srgbClr val="A4E4F2"/>
              </a:solidFill>
            </a:endParaRP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7CD10DE8-9415-7200-024D-881BC96A019B}"/>
              </a:ext>
            </a:extLst>
          </p:cNvPr>
          <p:cNvSpPr txBox="1">
            <a:spLocks/>
          </p:cNvSpPr>
          <p:nvPr/>
        </p:nvSpPr>
        <p:spPr>
          <a:xfrm>
            <a:off x="2701871" y="344882"/>
            <a:ext cx="737719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800" dirty="0">
                <a:solidFill>
                  <a:srgbClr val="A4E4F2"/>
                </a:solidFill>
                <a:latin typeface="Actay Wide Bd" pitchFamily="50" charset="-52"/>
              </a:rPr>
              <a:t>Пример настройки доски (</a:t>
            </a:r>
            <a:r>
              <a:rPr lang="en-US" sz="3800" dirty="0">
                <a:solidFill>
                  <a:srgbClr val="A4E4F2"/>
                </a:solidFill>
                <a:latin typeface="Actay Wide Bd" pitchFamily="50" charset="-52"/>
              </a:rPr>
              <a:t>Kanban)</a:t>
            </a:r>
            <a:endParaRPr lang="ru-RU" sz="3800" dirty="0">
              <a:solidFill>
                <a:srgbClr val="A4E4F2"/>
              </a:solidFill>
              <a:latin typeface="Actay Wide Bd" pitchFamily="50" charset="-5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17A656-F98D-67F2-CB88-C2E156C0EEB1}"/>
              </a:ext>
            </a:extLst>
          </p:cNvPr>
          <p:cNvSpPr txBox="1"/>
          <p:nvPr/>
        </p:nvSpPr>
        <p:spPr>
          <a:xfrm>
            <a:off x="1165432" y="1865065"/>
            <a:ext cx="4517279" cy="2352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</a:pPr>
            <a:r>
              <a:rPr kumimoji="0" lang="en-US" altLang="ru-RU" sz="2000" b="1" i="0" u="none" strike="noStrike" cap="none" normalizeH="0" baseline="0" dirty="0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Trello / </a:t>
            </a:r>
            <a:r>
              <a:rPr kumimoji="0" lang="en-US" altLang="ru-RU" sz="2000" b="1" i="0" u="none" strike="noStrike" cap="none" normalizeH="0" baseline="0" dirty="0" err="1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YouGile</a:t>
            </a:r>
            <a:r>
              <a:rPr kumimoji="0" lang="en-US" altLang="ru-RU" sz="2000" b="1" i="0" u="none" strike="noStrike" cap="none" normalizeH="0" baseline="0" dirty="0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 — 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минимум настроек:</a:t>
            </a:r>
          </a:p>
          <a:p>
            <a:pPr lvl="0" algn="ctr" eaLnBrk="0" fontAlgn="base" hangingPunct="0">
              <a:lnSpc>
                <a:spcPct val="150000"/>
              </a:lnSpc>
              <a:spcAft>
                <a:spcPct val="0"/>
              </a:spcAft>
            </a:pPr>
            <a:r>
              <a:rPr kumimoji="0" lang="en-US" altLang="ru-RU" b="0" i="1" u="none" strike="noStrike" cap="none" normalizeH="0" baseline="0" dirty="0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To Do → In Progress → In Review → Done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– Карточки с описанием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– Назначение исполнителей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– Сроки и метки (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Bug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Feature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D9691B-34A1-AECC-691F-E2EE586E755E}"/>
              </a:ext>
            </a:extLst>
          </p:cNvPr>
          <p:cNvSpPr txBox="1"/>
          <p:nvPr/>
        </p:nvSpPr>
        <p:spPr>
          <a:xfrm>
            <a:off x="6700910" y="1865065"/>
            <a:ext cx="4517279" cy="189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lnSpc>
                <a:spcPct val="150000"/>
              </a:lnSpc>
              <a:spcAft>
                <a:spcPct val="0"/>
              </a:spcAft>
            </a:pPr>
            <a:r>
              <a:rPr lang="ru-RU" altLang="ru-RU" sz="2000" b="1" dirty="0" err="1">
                <a:solidFill>
                  <a:srgbClr val="D7F3F9"/>
                </a:solidFill>
                <a:latin typeface="Actay Wide Bd" pitchFamily="50" charset="-52"/>
              </a:rPr>
              <a:t>Jira</a:t>
            </a:r>
            <a:r>
              <a:rPr lang="ru-RU" altLang="ru-RU" sz="2000" b="1" dirty="0">
                <a:solidFill>
                  <a:srgbClr val="D7F3F9"/>
                </a:solidFill>
                <a:latin typeface="Actay Wide Bd" pitchFamily="50" charset="-52"/>
              </a:rPr>
              <a:t>: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</a:pPr>
            <a:r>
              <a:rPr lang="ru-RU" altLang="ru-RU" sz="2000" dirty="0">
                <a:solidFill>
                  <a:srgbClr val="D7F3F9"/>
                </a:solidFill>
                <a:latin typeface="Actay Wide Bd" pitchFamily="50" charset="-52"/>
              </a:rPr>
              <a:t>– Автоматические переходы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</a:pPr>
            <a:r>
              <a:rPr lang="ru-RU" altLang="ru-RU" sz="2000" dirty="0">
                <a:solidFill>
                  <a:srgbClr val="D7F3F9"/>
                </a:solidFill>
                <a:latin typeface="Actay Wide Bd" pitchFamily="50" charset="-52"/>
              </a:rPr>
              <a:t>– Условия закрытия задач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</a:pPr>
            <a:r>
              <a:rPr lang="ru-RU" altLang="ru-RU" sz="2000" dirty="0">
                <a:solidFill>
                  <a:srgbClr val="D7F3F9"/>
                </a:solidFill>
                <a:latin typeface="Actay Wide Bd" pitchFamily="50" charset="-52"/>
              </a:rPr>
              <a:t>– Интеграция с </a:t>
            </a:r>
            <a:r>
              <a:rPr lang="ru-RU" altLang="ru-RU" sz="2000" dirty="0" err="1">
                <a:solidFill>
                  <a:srgbClr val="D7F3F9"/>
                </a:solidFill>
                <a:latin typeface="Actay Wide Bd" pitchFamily="50" charset="-52"/>
              </a:rPr>
              <a:t>GitHub</a:t>
            </a:r>
            <a:r>
              <a:rPr lang="ru-RU" altLang="ru-RU" sz="2000" dirty="0">
                <a:solidFill>
                  <a:srgbClr val="D7F3F9"/>
                </a:solidFill>
                <a:latin typeface="Actay Wide Bd" pitchFamily="50" charset="-52"/>
              </a:rPr>
              <a:t> / </a:t>
            </a:r>
            <a:r>
              <a:rPr lang="ru-RU" altLang="ru-RU" sz="2000" dirty="0" err="1">
                <a:solidFill>
                  <a:srgbClr val="D7F3F9"/>
                </a:solidFill>
                <a:latin typeface="Actay Wide Bd" pitchFamily="50" charset="-52"/>
              </a:rPr>
              <a:t>Bitbucket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rgbClr val="D7F3F9"/>
              </a:solidFill>
              <a:effectLst/>
              <a:latin typeface="Actay Wide Bd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129121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70462E-C489-B61F-4FEA-E6784E666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7EA0DD9-8169-D8CD-57A9-775F0C6636D3}"/>
              </a:ext>
            </a:extLst>
          </p:cNvPr>
          <p:cNvSpPr/>
          <p:nvPr/>
        </p:nvSpPr>
        <p:spPr>
          <a:xfrm>
            <a:off x="506186" y="342899"/>
            <a:ext cx="11250385" cy="6172202"/>
          </a:xfrm>
          <a:prstGeom prst="rect">
            <a:avLst/>
          </a:prstGeom>
          <a:solidFill>
            <a:srgbClr val="1D1D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Номер слайда 1">
            <a:extLst>
              <a:ext uri="{FF2B5EF4-FFF2-40B4-BE49-F238E27FC236}">
                <a16:creationId xmlns:a16="http://schemas.microsoft.com/office/drawing/2014/main" id="{2F307CE7-1EBC-9BDD-296D-D4EE2A50A0C2}"/>
              </a:ext>
            </a:extLst>
          </p:cNvPr>
          <p:cNvSpPr txBox="1">
            <a:spLocks/>
          </p:cNvSpPr>
          <p:nvPr/>
        </p:nvSpPr>
        <p:spPr>
          <a:xfrm>
            <a:off x="11597545" y="6428923"/>
            <a:ext cx="420282" cy="349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FDD33B-1976-4C49-9A56-2447F1B818AF}" type="slidenum">
              <a:rPr lang="ru-RU" sz="1400" b="1" smtClean="0">
                <a:solidFill>
                  <a:srgbClr val="A4E4F2"/>
                </a:solidFill>
              </a:rPr>
              <a:pPr/>
              <a:t>6</a:t>
            </a:fld>
            <a:endParaRPr lang="ru-RU" sz="1400" b="1" dirty="0">
              <a:solidFill>
                <a:srgbClr val="A4E4F2"/>
              </a:solidFill>
            </a:endParaRP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0AE2C2DE-5BB2-34BF-4CC6-D9F7BFFDD90D}"/>
              </a:ext>
            </a:extLst>
          </p:cNvPr>
          <p:cNvSpPr txBox="1">
            <a:spLocks/>
          </p:cNvSpPr>
          <p:nvPr/>
        </p:nvSpPr>
        <p:spPr>
          <a:xfrm>
            <a:off x="950563" y="344882"/>
            <a:ext cx="1136542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800" dirty="0">
                <a:solidFill>
                  <a:srgbClr val="A4E4F2"/>
                </a:solidFill>
                <a:latin typeface="Actay Wide Bd" pitchFamily="50" charset="-52"/>
              </a:rPr>
              <a:t>Практическое сравнение для учебного проекта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6040A720-FA81-1E4C-D771-C1D522592D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2162375"/>
              </p:ext>
            </p:extLst>
          </p:nvPr>
        </p:nvGraphicFramePr>
        <p:xfrm>
          <a:off x="1946728" y="2196441"/>
          <a:ext cx="8369300" cy="278765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2349500">
                  <a:extLst>
                    <a:ext uri="{9D8B030D-6E8A-4147-A177-3AD203B41FA5}">
                      <a16:colId xmlns:a16="http://schemas.microsoft.com/office/drawing/2014/main" val="410190046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861945988"/>
                    </a:ext>
                  </a:extLst>
                </a:gridCol>
                <a:gridCol w="2044700">
                  <a:extLst>
                    <a:ext uri="{9D8B030D-6E8A-4147-A177-3AD203B41FA5}">
                      <a16:colId xmlns:a16="http://schemas.microsoft.com/office/drawing/2014/main" val="2876151777"/>
                    </a:ext>
                  </a:extLst>
                </a:gridCol>
                <a:gridCol w="2349500">
                  <a:extLst>
                    <a:ext uri="{9D8B030D-6E8A-4147-A177-3AD203B41FA5}">
                      <a16:colId xmlns:a16="http://schemas.microsoft.com/office/drawing/2014/main" val="212491442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1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Критерий</a:t>
                      </a:r>
                      <a:endParaRPr lang="ru-RU" sz="2000" b="1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rgbClr val="D7F3F9"/>
                          </a:solidFill>
                          <a:effectLst/>
                        </a:rPr>
                        <a:t>YouGile</a:t>
                      </a:r>
                      <a:endParaRPr lang="en-US" sz="2000" b="1" i="0" u="none" strike="noStrike">
                        <a:solidFill>
                          <a:srgbClr val="D7F3F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rgbClr val="D7F3F9"/>
                          </a:solidFill>
                          <a:effectLst/>
                        </a:rPr>
                        <a:t>Trello</a:t>
                      </a:r>
                      <a:endParaRPr lang="en-US" sz="2000" b="1" i="0" u="none" strike="noStrike">
                        <a:solidFill>
                          <a:srgbClr val="D7F3F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 dirty="0">
                          <a:solidFill>
                            <a:srgbClr val="D7F3F9"/>
                          </a:solidFill>
                          <a:effectLst/>
                        </a:rPr>
                        <a:t>Jira</a:t>
                      </a:r>
                      <a:endParaRPr lang="en-US" sz="2000" b="1" i="0" u="none" strike="noStrike" dirty="0">
                        <a:solidFill>
                          <a:srgbClr val="D7F3F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73674968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Русский интерфейс</a:t>
                      </a:r>
                      <a:endParaRPr lang="ru-RU" sz="2000" b="0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✅ Полный</a:t>
                      </a:r>
                      <a:endParaRPr lang="ru-RU" sz="2000" b="0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✅ Частичный</a:t>
                      </a:r>
                      <a:endParaRPr lang="ru-RU" sz="2000" b="0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⚠️ Основной — англ.</a:t>
                      </a:r>
                      <a:endParaRPr lang="ru-RU" sz="2000" b="0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594504354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Сложность</a:t>
                      </a:r>
                      <a:endParaRPr lang="ru-RU" sz="2000" b="0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⭐</a:t>
                      </a:r>
                      <a:endParaRPr lang="ru-RU" sz="2000" b="0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⭐⭐</a:t>
                      </a:r>
                      <a:endParaRPr lang="ru-RU" sz="2000" b="0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⭐⭐⭐⭐</a:t>
                      </a:r>
                      <a:endParaRPr lang="ru-RU" sz="2000" b="0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18574743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Бесплатный тариф</a:t>
                      </a:r>
                      <a:endParaRPr lang="ru-RU" sz="2000" b="0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✅</a:t>
                      </a:r>
                      <a:endParaRPr lang="ru-RU" sz="2000" b="0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✅</a:t>
                      </a:r>
                      <a:endParaRPr lang="ru-RU" sz="2000" b="0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✅ (до 10 чел.)</a:t>
                      </a:r>
                      <a:endParaRPr lang="ru-RU" sz="2000" b="0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286880310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Поддержка </a:t>
                      </a:r>
                      <a:r>
                        <a:rPr lang="en-US" sz="2000" b="0" u="none" strike="noStrike">
                          <a:solidFill>
                            <a:srgbClr val="D7F3F9"/>
                          </a:solidFill>
                          <a:effectLst/>
                        </a:rPr>
                        <a:t>Kanban</a:t>
                      </a:r>
                      <a:endParaRPr lang="en-US" sz="2000" b="0" i="0" u="none" strike="noStrike">
                        <a:solidFill>
                          <a:srgbClr val="D7F3F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✅</a:t>
                      </a:r>
                      <a:endParaRPr lang="ru-RU" sz="2000" b="0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✅</a:t>
                      </a:r>
                      <a:endParaRPr lang="ru-RU" sz="2000" b="0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✅</a:t>
                      </a:r>
                      <a:endParaRPr lang="ru-RU" sz="2000" b="0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341689164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Настройка </a:t>
                      </a:r>
                      <a:r>
                        <a:rPr lang="en-US" sz="2000" b="0" u="none" strike="noStrike">
                          <a:solidFill>
                            <a:srgbClr val="D7F3F9"/>
                          </a:solidFill>
                          <a:effectLst/>
                        </a:rPr>
                        <a:t>workflow</a:t>
                      </a:r>
                      <a:endParaRPr lang="en-US" sz="2000" b="0" i="0" u="none" strike="noStrike">
                        <a:solidFill>
                          <a:srgbClr val="D7F3F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✅ (базово)</a:t>
                      </a:r>
                      <a:endParaRPr lang="ru-RU" sz="2000" b="0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⚠️ Вручную</a:t>
                      </a:r>
                      <a:endParaRPr lang="ru-RU" sz="2000" b="0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✅ (гибко)</a:t>
                      </a:r>
                      <a:endParaRPr lang="ru-RU" sz="2000" b="0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434068065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Подходит для курсовой?</a:t>
                      </a:r>
                      <a:endParaRPr lang="ru-RU" sz="2000" b="0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✅✅✅</a:t>
                      </a:r>
                      <a:endParaRPr lang="ru-RU" sz="2000" b="0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✅✅</a:t>
                      </a:r>
                      <a:endParaRPr lang="ru-RU" sz="2000" b="0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u="none" strike="noStrike" dirty="0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⚠️ Только при наличии опыта</a:t>
                      </a:r>
                      <a:endParaRPr lang="ru-RU" sz="2000" b="0" i="0" u="none" strike="noStrike" dirty="0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5786149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5516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FEE49F-0353-F9CC-D76F-8E672E6D2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C456C59-311B-80BD-EC6D-0B8A5E097783}"/>
              </a:ext>
            </a:extLst>
          </p:cNvPr>
          <p:cNvSpPr/>
          <p:nvPr/>
        </p:nvSpPr>
        <p:spPr>
          <a:xfrm>
            <a:off x="506186" y="342899"/>
            <a:ext cx="11250385" cy="6172202"/>
          </a:xfrm>
          <a:prstGeom prst="rect">
            <a:avLst/>
          </a:prstGeom>
          <a:solidFill>
            <a:srgbClr val="1D1D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Номер слайда 1">
            <a:extLst>
              <a:ext uri="{FF2B5EF4-FFF2-40B4-BE49-F238E27FC236}">
                <a16:creationId xmlns:a16="http://schemas.microsoft.com/office/drawing/2014/main" id="{BD47BBAD-56AB-EBCA-2E41-0775C6A12BDD}"/>
              </a:ext>
            </a:extLst>
          </p:cNvPr>
          <p:cNvSpPr txBox="1">
            <a:spLocks/>
          </p:cNvSpPr>
          <p:nvPr/>
        </p:nvSpPr>
        <p:spPr>
          <a:xfrm>
            <a:off x="11597545" y="6428923"/>
            <a:ext cx="420282" cy="349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FDD33B-1976-4C49-9A56-2447F1B818AF}" type="slidenum">
              <a:rPr lang="ru-RU" sz="1400" b="1" smtClean="0">
                <a:solidFill>
                  <a:srgbClr val="A4E4F2"/>
                </a:solidFill>
              </a:rPr>
              <a:pPr/>
              <a:t>7</a:t>
            </a:fld>
            <a:endParaRPr lang="ru-RU" sz="1400" b="1" dirty="0">
              <a:solidFill>
                <a:srgbClr val="A4E4F2"/>
              </a:solidFill>
            </a:endParaRP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E45C467F-25C5-75CC-E91B-CB0BAECFE4B3}"/>
              </a:ext>
            </a:extLst>
          </p:cNvPr>
          <p:cNvSpPr txBox="1">
            <a:spLocks/>
          </p:cNvSpPr>
          <p:nvPr/>
        </p:nvSpPr>
        <p:spPr>
          <a:xfrm>
            <a:off x="3332135" y="342899"/>
            <a:ext cx="552772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800" dirty="0">
                <a:solidFill>
                  <a:srgbClr val="A4E4F2"/>
                </a:solidFill>
                <a:latin typeface="Actay Wide Bd" pitchFamily="50" charset="-52"/>
              </a:rPr>
              <a:t>Рекомендации по выбору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31C27F-EBE3-1DB7-58D7-3A878352527D}"/>
              </a:ext>
            </a:extLst>
          </p:cNvPr>
          <p:cNvSpPr txBox="1"/>
          <p:nvPr/>
        </p:nvSpPr>
        <p:spPr>
          <a:xfrm>
            <a:off x="2186006" y="1867803"/>
            <a:ext cx="7890744" cy="3122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 eaLnBrk="0" fontAlgn="base" hangingPunct="0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Начинающим / учебные проекты →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YouGile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 или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Trello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rgbClr val="D7F3F9"/>
              </a:solidFill>
              <a:effectLst/>
              <a:latin typeface="Actay Wide Bd" pitchFamily="50" charset="-52"/>
            </a:endParaRPr>
          </a:p>
          <a:p>
            <a:pPr lvl="0" algn="just" eaLnBrk="0" fontAlgn="base" hangingPunct="0">
              <a:lnSpc>
                <a:spcPct val="150000"/>
              </a:lnSpc>
              <a:spcAft>
                <a:spcPts val="1200"/>
              </a:spcAft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(простота, визуальность, минимум настроек)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Профессиональные команды разработки →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Jira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rgbClr val="D7F3F9"/>
              </a:solidFill>
              <a:effectLst/>
              <a:latin typeface="Actay Wide Bd" pitchFamily="50" charset="-52"/>
            </a:endParaRPr>
          </a:p>
          <a:p>
            <a:pPr lvl="0" algn="just" eaLnBrk="0" fontAlgn="base" hangingPunct="0">
              <a:lnSpc>
                <a:spcPct val="150000"/>
              </a:lnSpc>
              <a:spcAft>
                <a:spcPts val="1200"/>
              </a:spcAft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(глубокая интеграция, отчётность, контроль качества)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Гибридные команды (дизайн + разработка + маркетинг) →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ClickUp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rgbClr val="D7F3F9"/>
              </a:solidFill>
              <a:effectLst/>
              <a:latin typeface="Actay Wide Bd" pitchFamily="50" charset="-52"/>
            </a:endParaRP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(единое пространство для всех задач)</a:t>
            </a:r>
          </a:p>
        </p:txBody>
      </p:sp>
    </p:spTree>
    <p:extLst>
      <p:ext uri="{BB962C8B-B14F-4D97-AF65-F5344CB8AC3E}">
        <p14:creationId xmlns:p14="http://schemas.microsoft.com/office/powerpoint/2010/main" val="169221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F2F45F-86A6-8B8B-3734-E6AAD9CDF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0DC7FBD-BE48-5C0D-CD04-39159E375CA0}"/>
              </a:ext>
            </a:extLst>
          </p:cNvPr>
          <p:cNvSpPr/>
          <p:nvPr/>
        </p:nvSpPr>
        <p:spPr>
          <a:xfrm>
            <a:off x="506186" y="342899"/>
            <a:ext cx="11250385" cy="6172202"/>
          </a:xfrm>
          <a:prstGeom prst="rect">
            <a:avLst/>
          </a:prstGeom>
          <a:solidFill>
            <a:srgbClr val="1D1D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Номер слайда 1">
            <a:extLst>
              <a:ext uri="{FF2B5EF4-FFF2-40B4-BE49-F238E27FC236}">
                <a16:creationId xmlns:a16="http://schemas.microsoft.com/office/drawing/2014/main" id="{AE368F8C-138A-C40E-E2C1-A338389A75D9}"/>
              </a:ext>
            </a:extLst>
          </p:cNvPr>
          <p:cNvSpPr txBox="1">
            <a:spLocks/>
          </p:cNvSpPr>
          <p:nvPr/>
        </p:nvSpPr>
        <p:spPr>
          <a:xfrm>
            <a:off x="11597545" y="6428923"/>
            <a:ext cx="420282" cy="349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FDD33B-1976-4C49-9A56-2447F1B818AF}" type="slidenum">
              <a:rPr lang="ru-RU" sz="1400" b="1" smtClean="0">
                <a:solidFill>
                  <a:srgbClr val="A4E4F2"/>
                </a:solidFill>
              </a:rPr>
              <a:pPr/>
              <a:t>8</a:t>
            </a:fld>
            <a:endParaRPr lang="ru-RU" sz="1400" b="1" dirty="0">
              <a:solidFill>
                <a:srgbClr val="A4E4F2"/>
              </a:solidFill>
            </a:endParaRP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DD062066-FFA2-C4FB-87A2-C74C8C9299C2}"/>
              </a:ext>
            </a:extLst>
          </p:cNvPr>
          <p:cNvSpPr txBox="1">
            <a:spLocks/>
          </p:cNvSpPr>
          <p:nvPr/>
        </p:nvSpPr>
        <p:spPr>
          <a:xfrm>
            <a:off x="4229185" y="344882"/>
            <a:ext cx="380438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800" dirty="0">
                <a:solidFill>
                  <a:srgbClr val="A4E4F2"/>
                </a:solidFill>
                <a:latin typeface="Actay Wide Bd" pitchFamily="50" charset="-52"/>
              </a:rPr>
              <a:t>Заключение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7D08A8-6985-7C74-B11D-B191CF0EEB12}"/>
              </a:ext>
            </a:extLst>
          </p:cNvPr>
          <p:cNvSpPr txBox="1"/>
          <p:nvPr/>
        </p:nvSpPr>
        <p:spPr>
          <a:xfrm>
            <a:off x="1083128" y="1670445"/>
            <a:ext cx="9906001" cy="3276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 eaLnBrk="0" fontAlgn="base" hangingPunct="0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Agile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 невозможен без визуального управления задачами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Выбор инструмента зависит от: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            → размера команды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            → уровня сложности проекта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            → требований к отчётности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Для проекта «Мобильное приложение для тату-салона» был успешно использован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YouGile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 — простой, русскоязычный, поддерживающий гибкий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workflow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rgbClr val="D7F3F9"/>
              </a:solidFill>
              <a:effectLst/>
              <a:latin typeface="Actay Wide Bd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113376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826C21-FBCE-30BC-097F-D97BF1815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20EA752-787A-D2DC-5BD9-D70A61690983}"/>
              </a:ext>
            </a:extLst>
          </p:cNvPr>
          <p:cNvSpPr/>
          <p:nvPr/>
        </p:nvSpPr>
        <p:spPr>
          <a:xfrm>
            <a:off x="506186" y="342899"/>
            <a:ext cx="11250385" cy="6172202"/>
          </a:xfrm>
          <a:prstGeom prst="rect">
            <a:avLst/>
          </a:prstGeom>
          <a:solidFill>
            <a:srgbClr val="1D1D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F91E7F-95D2-284B-3CE7-62A01DA0C0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45508" y="584112"/>
            <a:ext cx="8420005" cy="1453908"/>
          </a:xfrm>
        </p:spPr>
        <p:txBody>
          <a:bodyPr>
            <a:normAutofit/>
          </a:bodyPr>
          <a:lstStyle/>
          <a:p>
            <a:r>
              <a:rPr lang="ru-RU" sz="1600" dirty="0">
                <a:solidFill>
                  <a:srgbClr val="A4E4F2"/>
                </a:solidFill>
                <a:latin typeface="Actay Wide Bd" pitchFamily="50" charset="-52"/>
              </a:rPr>
              <a:t>Министерства науки и высшего образования Российской Федерации</a:t>
            </a:r>
            <a:br>
              <a:rPr lang="ru-RU" sz="1600" dirty="0">
                <a:solidFill>
                  <a:srgbClr val="A4E4F2"/>
                </a:solidFill>
                <a:latin typeface="Actay Wide Bd" pitchFamily="50" charset="-52"/>
              </a:rPr>
            </a:br>
            <a:r>
              <a:rPr lang="ru-RU" sz="1600" dirty="0">
                <a:solidFill>
                  <a:srgbClr val="A4E4F2"/>
                </a:solidFill>
                <a:latin typeface="Actay Wide Bd" pitchFamily="50" charset="-52"/>
              </a:rPr>
              <a:t>Федеральное государственное бюджетное образовательно учреждение высшего образования</a:t>
            </a:r>
            <a:br>
              <a:rPr lang="ru-RU" sz="1600" dirty="0">
                <a:solidFill>
                  <a:srgbClr val="A4E4F2"/>
                </a:solidFill>
                <a:latin typeface="Actay Wide Bd" pitchFamily="50" charset="-52"/>
              </a:rPr>
            </a:br>
            <a:r>
              <a:rPr lang="ru-RU" sz="1600" dirty="0">
                <a:solidFill>
                  <a:srgbClr val="A4E4F2"/>
                </a:solidFill>
                <a:latin typeface="Actay Wide Bd" pitchFamily="50" charset="-52"/>
              </a:rPr>
              <a:t>«Заполярный государственный университет имени Н. М. Федоровского»</a:t>
            </a:r>
            <a:br>
              <a:rPr lang="ru-RU" sz="1600" dirty="0">
                <a:solidFill>
                  <a:srgbClr val="A4E4F2"/>
                </a:solidFill>
                <a:latin typeface="Actay Wide Bd" pitchFamily="50" charset="-52"/>
              </a:rPr>
            </a:br>
            <a:r>
              <a:rPr lang="ru-RU" sz="1600" dirty="0">
                <a:solidFill>
                  <a:srgbClr val="A4E4F2"/>
                </a:solidFill>
                <a:latin typeface="Actay Wide Bd" pitchFamily="50" charset="-52"/>
              </a:rPr>
              <a:t>Кафедра информационных систем и технологий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5C29685-612D-280D-A506-01B37A6F24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8872" y="2954768"/>
            <a:ext cx="6011027" cy="1763408"/>
          </a:xfrm>
        </p:spPr>
        <p:txBody>
          <a:bodyPr>
            <a:normAutofit fontScale="92500"/>
          </a:bodyPr>
          <a:lstStyle/>
          <a:p>
            <a:pPr algn="l"/>
            <a:r>
              <a:rPr lang="ru-RU" sz="4800" dirty="0">
                <a:solidFill>
                  <a:srgbClr val="A4E4F2"/>
                </a:solidFill>
                <a:latin typeface="Actay Wide Bd" pitchFamily="50" charset="-52"/>
              </a:rPr>
              <a:t>«</a:t>
            </a:r>
            <a:r>
              <a:rPr lang="ru-RU" sz="4000" kern="0" dirty="0">
                <a:solidFill>
                  <a:srgbClr val="A4E4F2"/>
                </a:solidFill>
                <a:effectLst/>
                <a:latin typeface="Actay Wide Bd" pitchFamily="50" charset="-52"/>
                <a:ea typeface="Times New Roman" panose="02020603050405020304" pitchFamily="18" charset="0"/>
              </a:rPr>
              <a:t>Инструменты управления задачами в </a:t>
            </a:r>
            <a:r>
              <a:rPr lang="ru-RU" sz="4000" kern="0" dirty="0" err="1">
                <a:solidFill>
                  <a:srgbClr val="A4E4F2"/>
                </a:solidFill>
                <a:effectLst/>
                <a:latin typeface="Actay Wide Bd" pitchFamily="50" charset="-52"/>
                <a:ea typeface="Times New Roman" panose="02020603050405020304" pitchFamily="18" charset="0"/>
              </a:rPr>
              <a:t>Agile</a:t>
            </a:r>
            <a:r>
              <a:rPr lang="ru-RU" sz="4000" kern="0" dirty="0">
                <a:solidFill>
                  <a:srgbClr val="A4E4F2"/>
                </a:solidFill>
                <a:effectLst/>
                <a:latin typeface="Actay Wide Bd" pitchFamily="50" charset="-52"/>
                <a:ea typeface="Times New Roman" panose="02020603050405020304" pitchFamily="18" charset="0"/>
              </a:rPr>
              <a:t>-проектах</a:t>
            </a:r>
            <a:r>
              <a:rPr lang="ru-RU" sz="4800" dirty="0">
                <a:solidFill>
                  <a:srgbClr val="A4E4F2"/>
                </a:solidFill>
                <a:latin typeface="Actay Wide Bd" pitchFamily="50" charset="-52"/>
              </a:rPr>
              <a:t>»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A6E21A-7970-4940-6FCC-BB2E56619D40}"/>
              </a:ext>
            </a:extLst>
          </p:cNvPr>
          <p:cNvSpPr txBox="1"/>
          <p:nvPr/>
        </p:nvSpPr>
        <p:spPr>
          <a:xfrm>
            <a:off x="808873" y="4870845"/>
            <a:ext cx="327327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rgbClr val="A4E4F2"/>
                </a:solidFill>
                <a:latin typeface="Actay Wide Bd" pitchFamily="50" charset="-52"/>
              </a:rPr>
              <a:t>Работу выполнили:</a:t>
            </a:r>
          </a:p>
          <a:p>
            <a:r>
              <a:rPr lang="ru-RU" sz="1600" dirty="0">
                <a:solidFill>
                  <a:srgbClr val="A4E4F2"/>
                </a:solidFill>
                <a:latin typeface="Actay Wide Bd" pitchFamily="50" charset="-52"/>
              </a:rPr>
              <a:t>Студенты группы ИС-23</a:t>
            </a:r>
          </a:p>
          <a:p>
            <a:r>
              <a:rPr lang="ru-RU" sz="1600" dirty="0">
                <a:solidFill>
                  <a:srgbClr val="A4E4F2"/>
                </a:solidFill>
                <a:latin typeface="Actay Wide Bd" pitchFamily="50" charset="-52"/>
              </a:rPr>
              <a:t>Сулейманов А. Ш.</a:t>
            </a:r>
          </a:p>
          <a:p>
            <a:r>
              <a:rPr lang="ru-RU" sz="1600" dirty="0">
                <a:solidFill>
                  <a:srgbClr val="A4E4F2"/>
                </a:solidFill>
                <a:latin typeface="Actay Wide Bd" pitchFamily="50" charset="-52"/>
              </a:rPr>
              <a:t>Решетов В.В.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F9CCB1-5F17-253E-DFFE-20C4705F917D}"/>
              </a:ext>
            </a:extLst>
          </p:cNvPr>
          <p:cNvSpPr txBox="1"/>
          <p:nvPr/>
        </p:nvSpPr>
        <p:spPr>
          <a:xfrm>
            <a:off x="8614597" y="4993955"/>
            <a:ext cx="17657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solidFill>
                  <a:srgbClr val="A4E4F2"/>
                </a:solidFill>
                <a:latin typeface="Actay Wide Bd" pitchFamily="50" charset="-52"/>
              </a:rPr>
              <a:t>Работу проверил:</a:t>
            </a:r>
          </a:p>
          <a:p>
            <a:r>
              <a:rPr lang="ru-RU" sz="1600" dirty="0">
                <a:solidFill>
                  <a:srgbClr val="A4E4F2"/>
                </a:solidFill>
                <a:latin typeface="Actay Wide Bd" pitchFamily="50" charset="-52"/>
              </a:rPr>
              <a:t>Сидельников М.Э.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31A6707-52C5-441B-2F42-E0D861826F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872" y="4263197"/>
            <a:ext cx="5842299" cy="30230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CEFC425-C192-4C84-C570-F350036133A6}"/>
              </a:ext>
            </a:extLst>
          </p:cNvPr>
          <p:cNvSpPr txBox="1"/>
          <p:nvPr/>
        </p:nvSpPr>
        <p:spPr>
          <a:xfrm>
            <a:off x="5217035" y="6008550"/>
            <a:ext cx="20763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rgbClr val="A4E4F2"/>
                </a:solidFill>
                <a:latin typeface="Actay Wide Bd" pitchFamily="50" charset="-52"/>
              </a:rPr>
              <a:t>Норильск, 2025</a:t>
            </a:r>
          </a:p>
        </p:txBody>
      </p:sp>
    </p:spTree>
    <p:extLst>
      <p:ext uri="{BB962C8B-B14F-4D97-AF65-F5344CB8AC3E}">
        <p14:creationId xmlns:p14="http://schemas.microsoft.com/office/powerpoint/2010/main" val="333250475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</TotalTime>
  <Words>500</Words>
  <Application>Microsoft Office PowerPoint</Application>
  <PresentationFormat>Широкоэкранный</PresentationFormat>
  <Paragraphs>123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Actay Wide Bd</vt:lpstr>
      <vt:lpstr>Aptos</vt:lpstr>
      <vt:lpstr>Aptos Display</vt:lpstr>
      <vt:lpstr>Arial</vt:lpstr>
      <vt:lpstr>Calibri</vt:lpstr>
      <vt:lpstr>Тема Office</vt:lpstr>
      <vt:lpstr>Министерства науки и высшего образования Российской Федерации Федеральное государственное бюджетное образовательно учреждение высшего образования «Заполярный государственный университет имени Н. М. Федоровского» Кафедра информационных систем и технологий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Министерства науки и высшего образования Российской Федерации Федеральное государственное бюджетное образовательно учреждение высшего образования «Заполярный государственный университет имени Н. М. Федоровского» Кафедра информационных систем и технологий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Амир Сулейманов</dc:creator>
  <cp:lastModifiedBy>Амир Сулейманов</cp:lastModifiedBy>
  <cp:revision>29</cp:revision>
  <dcterms:created xsi:type="dcterms:W3CDTF">2025-05-23T18:01:55Z</dcterms:created>
  <dcterms:modified xsi:type="dcterms:W3CDTF">2025-11-21T07:26:11Z</dcterms:modified>
</cp:coreProperties>
</file>