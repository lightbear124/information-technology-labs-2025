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77" r:id="rId4"/>
    <p:sldId id="284" r:id="rId5"/>
    <p:sldId id="285" r:id="rId6"/>
    <p:sldId id="286" r:id="rId7"/>
    <p:sldId id="287" r:id="rId8"/>
    <p:sldId id="283" r:id="rId9"/>
    <p:sldId id="28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F3F9"/>
    <a:srgbClr val="7B36AD"/>
    <a:srgbClr val="A4E4F2"/>
    <a:srgbClr val="C5EDF7"/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8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090A8F7-D0FC-B59A-2099-0E597CEAD0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5BF03E-9ECA-08B7-00C4-BBF643D8D7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92F11-AEB1-492D-A474-C3E6C30CC360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C73CE1-0B6D-2827-78A3-32BDEE7736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6FAEC4-29A9-9BFF-4CD4-7DCCFFCDFFC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A66A6-0F65-4600-8EB0-24980D7CDC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076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22438-80B5-45A1-8442-95F44A1A4C5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7218C-BFF1-4BE0-B4B9-46F979A41A1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7112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1C6AC0-E0FF-69A5-DF7B-CF80EEC9C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AD0E7F9-C055-0C75-CE42-9E854D2F5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D8A437-6D53-3767-49EE-BEC8401F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CC4B2-8DB4-4D29-AEB3-420F48CDFADE}" type="datetime1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DD00BF-2961-5A37-8419-3D3221E83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FA7801-6262-73CC-CFA1-7BB319365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49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09A78-ACD7-EDA9-1A76-89E497FC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572C1B-F5FB-3E66-2E32-267D57797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1C30F9-2F26-CD11-F78A-25B26B02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945C-9CAE-4A3C-8C36-EA0C04FF2E2C}" type="datetime1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786A04-D66B-65E9-7852-B26CAC1A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581339-BC5D-96CE-E999-9A8CA7D0C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78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E4BDE-4F3C-EE07-E374-DF733A49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A7885E-007E-3B01-921D-1BE7B8F61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B06A93-427B-3EA9-9A02-D934994D4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196EF-D0A0-4764-B7D3-8937ABDA8E2B}" type="datetime1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226BE9-3644-E999-9CE5-DB0D4281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52B55A-FCBA-11E3-06B7-4978CF91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56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4128BE-69BE-AEB4-00B7-850D68A98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9AF8B-E8BD-8598-319A-3211944D7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53BD84-57D6-0887-C590-EB713A08B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44B717-0A2E-B80A-FDF8-A7B20728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4C8A-52A2-4FE1-B939-6760DDA6B140}" type="datetime1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8B1023-6074-9627-0B93-5A0CF64F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A0C9D6-3C51-CBC9-4F4A-3E5C222A8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6214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562E4C-0621-6198-25FB-F096D117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117BB8-09C3-5059-176E-5BCDD3640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18543C3-1E1A-4616-4F64-02981E2358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1AAC04-3112-6C88-2646-B2053ACA3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FCECD5D-3777-98B6-FE04-8AA7EFD46C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5D8AB8-98AD-640C-C197-E56E967B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C55B-48CE-4A41-9C98-31D64297BA88}" type="datetime1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AF41C7E-B1DF-880C-0599-63211FF45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C9F885-F266-D0C0-3401-8098F01B1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66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E54F3-278A-0879-076A-44BA12BD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6A5366-44D3-FC5A-CC5F-3C43CF2E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0A3A-A6B4-4914-9999-6BA2201474FA}" type="datetime1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0BD9A1-9B3E-C216-3839-3E1C0505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1B6567-4C6B-2711-8903-0D64575D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085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66810ED-FC46-D93B-9285-AF841376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039C-2184-43AB-B65A-AEA44676C29A}" type="datetime1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ABB8D7-E58B-F5D7-7274-B5485580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7A471D-14F4-E102-F048-5239DAE9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097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6CBCA-DDE5-DD87-FF1B-4379EAA8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898B08-8642-3C2B-97F5-B1880A4B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41EE94-3ADA-516D-5693-D69D7E9548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C83DB4-6139-DC86-BBB5-06B3B4A52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F41D3-69E3-4375-A619-D8A4FD599D56}" type="datetime1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5224A1-49D8-F5B4-E54B-DB86556C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A8A852-FC98-B6A1-1AB7-9A503222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09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E9BBDA-626A-4278-1EAC-21923EBB0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4419D5D-2E2D-BEAE-BD78-E5DBE7E19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DEABE8D-865F-CB5E-29AC-98CEA1348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5B925B-FD93-43CA-8BA4-CCEB99CD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4A7E9-FCC6-4927-85BF-17F64D9EE8C1}" type="datetime1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C7F77B-139C-FB10-7840-ABE45B7E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D9AE69-415D-42E5-365F-799A4EC8B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98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7FBF3-FCCF-6478-28BB-957FEBAF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3DAE77B-20BE-19C0-7299-E9D3768F3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2F3BD1-1F6D-59A1-DFC2-E344EFB4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148D-8AE7-4B58-A53F-86362F236D49}" type="datetime1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3D545-C19E-B8C5-22D1-DEB3010C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616A30-700C-2AB8-872B-D93801B2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66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A8D1703-E063-51D0-4E5B-EE852544E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A32922-A5C8-9817-B9AD-E80D4794A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9D83BD-2FBA-ACF4-7161-16287240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726CB-CA55-4320-BBFE-E989E4FC8784}" type="datetime1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753691-E877-6E9C-634C-0D4914E3D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2C11F4-D96E-DA00-1D06-A38D2AD92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53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168BF-1B71-4BFC-9311-13008B3E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554B02-3377-5263-9D72-7983E8086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6BCEA8-FFC0-135A-BA31-132BA4AF05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A5BD50-4876-42D2-977C-80213E6A6187}" type="datetime1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43C25D-E539-BCE6-A674-2D7169AEF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A68FCC-D76F-262C-2EC2-37F2A9540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DD33B-1976-4C49-9A56-2447F1B81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20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842E613-7ACB-6461-0D4C-424A9DBEF5C9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3B0941-BD39-CA26-19CD-EEDEB6D66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5508" y="584112"/>
            <a:ext cx="8420005" cy="1453908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Министерства науки и высшего образования Российской Федерации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Федеральное государственное бюджетное образовательно учреждение высшего образования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«Заполярный государственный университет имени Н. М. Федоровского»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Кафедра информационных систем и технологий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45F80BD-6477-D0B1-2AF1-2FBDE1E0A6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872" y="2954768"/>
            <a:ext cx="6011027" cy="1763408"/>
          </a:xfrm>
        </p:spPr>
        <p:txBody>
          <a:bodyPr>
            <a:normAutofit fontScale="92500"/>
          </a:bodyPr>
          <a:lstStyle/>
          <a:p>
            <a:pPr algn="l"/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«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Инструменты управления задачами в </a:t>
            </a:r>
            <a:r>
              <a:rPr lang="ru-RU" sz="4000" kern="0" dirty="0" err="1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Agile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-проектах</a:t>
            </a:r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7F230-579A-EA99-4575-6BAD138F8C88}"/>
              </a:ext>
            </a:extLst>
          </p:cNvPr>
          <p:cNvSpPr txBox="1"/>
          <p:nvPr/>
        </p:nvSpPr>
        <p:spPr>
          <a:xfrm>
            <a:off x="808873" y="4870845"/>
            <a:ext cx="3273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выполнили: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Студенты группы ИС-23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Сулейманов А. Ш.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Решетов В.В.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B8C21-22B8-4065-BBC7-CF6624028405}"/>
              </a:ext>
            </a:extLst>
          </p:cNvPr>
          <p:cNvSpPr txBox="1"/>
          <p:nvPr/>
        </p:nvSpPr>
        <p:spPr>
          <a:xfrm>
            <a:off x="8614597" y="4993955"/>
            <a:ext cx="1765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проверил: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Сидельников М.Э.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EAB93F0-E29B-E56F-3985-E16EB02A7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2" y="4263197"/>
            <a:ext cx="5842299" cy="3023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9F18B4-3BC3-8D9C-7F9F-975FB2F86B05}"/>
              </a:ext>
            </a:extLst>
          </p:cNvPr>
          <p:cNvSpPr txBox="1"/>
          <p:nvPr/>
        </p:nvSpPr>
        <p:spPr>
          <a:xfrm>
            <a:off x="5217035" y="6008550"/>
            <a:ext cx="207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Норильск, 2025</a:t>
            </a:r>
          </a:p>
        </p:txBody>
      </p:sp>
    </p:spTree>
    <p:extLst>
      <p:ext uri="{BB962C8B-B14F-4D97-AF65-F5344CB8AC3E}">
        <p14:creationId xmlns:p14="http://schemas.microsoft.com/office/powerpoint/2010/main" val="866068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8AF461-A5CF-626C-EE3B-17BF204D39DA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9642FE-FDC4-3DB2-DAAD-7CC3BDDF0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896" y="2233047"/>
            <a:ext cx="6659106" cy="2391905"/>
          </a:xfrm>
        </p:spPr>
        <p:txBody>
          <a:bodyPr>
            <a:normAutofit fontScale="85000" lnSpcReduction="20000"/>
          </a:bodyPr>
          <a:lstStyle/>
          <a:p>
            <a:r>
              <a:rPr lang="ru-RU" sz="2000" dirty="0" err="1">
                <a:solidFill>
                  <a:srgbClr val="D7F3F9"/>
                </a:solidFill>
                <a:latin typeface="Actay Wide Bd" pitchFamily="50" charset="-52"/>
              </a:rPr>
              <a:t>Agile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-проекты требуют гибкости, прозрачности и быстрой обратной связи</a:t>
            </a:r>
          </a:p>
          <a:p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Инструменты помогают: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Визуализировать задачи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Отслеживать прогресс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Распределять ответственность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       ✅ Интегрировать с </a:t>
            </a:r>
            <a:r>
              <a:rPr lang="ru-RU" sz="2000" dirty="0" err="1">
                <a:solidFill>
                  <a:srgbClr val="D7F3F9"/>
                </a:solidFill>
                <a:latin typeface="Actay Wide Bd" pitchFamily="50" charset="-52"/>
              </a:rPr>
              <a:t>Git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, CI/CD, чатами</a:t>
            </a:r>
          </a:p>
          <a:p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Без инструментов — хаос, дублирование, потери задач</a:t>
            </a:r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66CCBE08-5826-CC19-4660-874D473781A9}"/>
              </a:ext>
            </a:extLst>
          </p:cNvPr>
          <p:cNvSpPr txBox="1">
            <a:spLocks/>
          </p:cNvSpPr>
          <p:nvPr/>
        </p:nvSpPr>
        <p:spPr>
          <a:xfrm>
            <a:off x="11756571" y="6428923"/>
            <a:ext cx="261256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2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1D6CB85-EEC4-3E98-57C9-33348B1F3A9B}"/>
              </a:ext>
            </a:extLst>
          </p:cNvPr>
          <p:cNvSpPr txBox="1">
            <a:spLocks/>
          </p:cNvSpPr>
          <p:nvPr/>
        </p:nvSpPr>
        <p:spPr>
          <a:xfrm>
            <a:off x="845628" y="342899"/>
            <a:ext cx="102976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Зачем нужны инструменты управления в </a:t>
            </a:r>
            <a:r>
              <a:rPr lang="ru-RU" sz="3800" dirty="0" err="1">
                <a:solidFill>
                  <a:srgbClr val="A4E4F2"/>
                </a:solidFill>
                <a:latin typeface="Actay Wide Bd" pitchFamily="50" charset="-52"/>
              </a:rPr>
              <a:t>Agile</a:t>
            </a:r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?: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0E346F9-E8AF-7F23-C39B-F985B3D84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79" y="1380884"/>
            <a:ext cx="10085936" cy="346693"/>
          </a:xfrm>
          <a:prstGeom prst="rect">
            <a:avLst/>
          </a:prstGeom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4EDCBBD5-B27D-2815-44E4-ADB854610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3904" y="2765562"/>
            <a:ext cx="4782700" cy="210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2335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B44F9-43B6-7686-ED23-BFCF412C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3093637-09B6-45EE-ECEC-0BB327847019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48EC4C76-D30D-94F3-EB5C-9553CD7828E5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3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F04488DD-182F-D593-7852-C7C01852CD88}"/>
              </a:ext>
            </a:extLst>
          </p:cNvPr>
          <p:cNvSpPr txBox="1">
            <a:spLocks/>
          </p:cNvSpPr>
          <p:nvPr/>
        </p:nvSpPr>
        <p:spPr>
          <a:xfrm>
            <a:off x="2701871" y="344882"/>
            <a:ext cx="7036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Обзор выбранных инструментов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439DC4-2C25-B684-EE32-7ADAB40EADA8}"/>
              </a:ext>
            </a:extLst>
          </p:cNvPr>
          <p:cNvSpPr txBox="1"/>
          <p:nvPr/>
        </p:nvSpPr>
        <p:spPr>
          <a:xfrm>
            <a:off x="1397907" y="2252524"/>
            <a:ext cx="10199638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Внедрение AI позволило автоматизировать до 80% </a:t>
            </a:r>
            <a:r>
              <a:rPr lang="ru-RU" sz="2000" dirty="0" err="1">
                <a:solidFill>
                  <a:srgbClr val="D7F3F9"/>
                </a:solidFill>
                <a:latin typeface="Actay Wide Bd" pitchFamily="50" charset="-52"/>
              </a:rPr>
              <a:t>пайплайна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 создания персонажа.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Сроки разработки сократились с 3–5 дней до 2–4 часов.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Эксперты сосредоточены только на уникальных и сложных задачах.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Повысилась масштабируемость и стабильность процесса.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indent="457200" algn="just" eaLnBrk="0" fontAlgn="base" hangingPunct="0">
              <a:lnSpc>
                <a:spcPct val="150000"/>
              </a:lnSpc>
              <a:spcAft>
                <a:spcPct val="0"/>
              </a:spcAft>
              <a:buFontTx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</a:t>
            </a:r>
            <a:r>
              <a:rPr lang="ru-RU" sz="2000" dirty="0">
                <a:solidFill>
                  <a:srgbClr val="D7F3F9"/>
                </a:solidFill>
                <a:latin typeface="Actay Wide Bd" pitchFamily="50" charset="-52"/>
              </a:rPr>
              <a:t>TO-BE модель эффективна как технологически, так и экономически.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98495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3082D5-DBC8-8C04-5DA0-D0DD612E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9328A00-1263-73E6-D841-4A6B9B1249A2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DF55E8BC-A5EA-D483-F66C-AD6D02A6275C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4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EED6BFA-B533-25DF-1127-C5FF30DAA9E6}"/>
              </a:ext>
            </a:extLst>
          </p:cNvPr>
          <p:cNvSpPr txBox="1">
            <a:spLocks/>
          </p:cNvSpPr>
          <p:nvPr/>
        </p:nvSpPr>
        <p:spPr>
          <a:xfrm>
            <a:off x="2701871" y="344882"/>
            <a:ext cx="67675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Поддержка </a:t>
            </a:r>
            <a:r>
              <a:rPr lang="en-US" sz="3800" dirty="0">
                <a:solidFill>
                  <a:srgbClr val="A4E4F2"/>
                </a:solidFill>
                <a:latin typeface="Actay Wide Bd" pitchFamily="50" charset="-52"/>
              </a:rPr>
              <a:t>Agile-</a:t>
            </a:r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методологий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D5C19A1-FF6B-8BFF-167C-F53FAB34B2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908517"/>
              </p:ext>
            </p:extLst>
          </p:nvPr>
        </p:nvGraphicFramePr>
        <p:xfrm>
          <a:off x="1173212" y="1633684"/>
          <a:ext cx="10184133" cy="179531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872527">
                  <a:extLst>
                    <a:ext uri="{9D8B030D-6E8A-4147-A177-3AD203B41FA5}">
                      <a16:colId xmlns:a16="http://schemas.microsoft.com/office/drawing/2014/main" val="372721738"/>
                    </a:ext>
                  </a:extLst>
                </a:gridCol>
                <a:gridCol w="2234952">
                  <a:extLst>
                    <a:ext uri="{9D8B030D-6E8A-4147-A177-3AD203B41FA5}">
                      <a16:colId xmlns:a16="http://schemas.microsoft.com/office/drawing/2014/main" val="3183986372"/>
                    </a:ext>
                  </a:extLst>
                </a:gridCol>
                <a:gridCol w="1582588">
                  <a:extLst>
                    <a:ext uri="{9D8B030D-6E8A-4147-A177-3AD203B41FA5}">
                      <a16:colId xmlns:a16="http://schemas.microsoft.com/office/drawing/2014/main" val="1395172937"/>
                    </a:ext>
                  </a:extLst>
                </a:gridCol>
                <a:gridCol w="2126225">
                  <a:extLst>
                    <a:ext uri="{9D8B030D-6E8A-4147-A177-3AD203B41FA5}">
                      <a16:colId xmlns:a16="http://schemas.microsoft.com/office/drawing/2014/main" val="3624567297"/>
                    </a:ext>
                  </a:extLst>
                </a:gridCol>
                <a:gridCol w="785253">
                  <a:extLst>
                    <a:ext uri="{9D8B030D-6E8A-4147-A177-3AD203B41FA5}">
                      <a16:colId xmlns:a16="http://schemas.microsoft.com/office/drawing/2014/main" val="3431881375"/>
                    </a:ext>
                  </a:extLst>
                </a:gridCol>
                <a:gridCol w="1582588">
                  <a:extLst>
                    <a:ext uri="{9D8B030D-6E8A-4147-A177-3AD203B41FA5}">
                      <a16:colId xmlns:a16="http://schemas.microsoft.com/office/drawing/2014/main" val="977997552"/>
                    </a:ext>
                  </a:extLst>
                </a:gridCol>
              </a:tblGrid>
              <a:tr h="59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1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Инструмент</a:t>
                      </a:r>
                      <a:endParaRPr lang="ru-RU" sz="1900" b="1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Scrum</a:t>
                      </a:r>
                      <a:endParaRPr lang="en-US" sz="19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Kanban</a:t>
                      </a:r>
                      <a:endParaRPr lang="en-US" sz="19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Backlog</a:t>
                      </a:r>
                      <a:endParaRPr lang="en-US" sz="19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Burndown</a:t>
                      </a:r>
                      <a:endParaRPr lang="en-US" sz="19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WIP-</a:t>
                      </a:r>
                      <a:r>
                        <a:rPr lang="ru-RU" sz="1900" b="1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лимиты</a:t>
                      </a:r>
                      <a:endParaRPr lang="ru-RU" sz="1900" b="1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extLst>
                  <a:ext uri="{0D108BD9-81ED-4DB2-BD59-A6C34878D82A}">
                    <a16:rowId xmlns:a16="http://schemas.microsoft.com/office/drawing/2014/main" val="3086125917"/>
                  </a:ext>
                </a:extLst>
              </a:tr>
              <a:tr h="5964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D7F3F9"/>
                          </a:solidFill>
                          <a:effectLst/>
                        </a:rPr>
                        <a:t>Trello</a:t>
                      </a:r>
                      <a:endParaRPr lang="en-US" sz="19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Через </a:t>
                      </a:r>
                      <a:r>
                        <a:rPr lang="en-US" sz="1900" b="0" u="none" strike="noStrike" dirty="0">
                          <a:solidFill>
                            <a:srgbClr val="D7F3F9"/>
                          </a:solidFill>
                          <a:effectLst/>
                        </a:rPr>
                        <a:t>Power-Ups</a:t>
                      </a:r>
                      <a:endParaRPr lang="en-US" sz="19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Нативно</a:t>
                      </a:r>
                      <a:endParaRPr lang="ru-RU" sz="1900" b="0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Ограничен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❌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Платно</a:t>
                      </a:r>
                      <a:endParaRPr lang="ru-RU" sz="1900" b="0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extLst>
                  <a:ext uri="{0D108BD9-81ED-4DB2-BD59-A6C34878D82A}">
                    <a16:rowId xmlns:a16="http://schemas.microsoft.com/office/drawing/2014/main" val="784295558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0" u="none" strike="noStrike" dirty="0">
                          <a:solidFill>
                            <a:srgbClr val="D7F3F9"/>
                          </a:solidFill>
                          <a:effectLst/>
                        </a:rPr>
                        <a:t>Asana</a:t>
                      </a:r>
                      <a:endParaRPr lang="en-US" sz="19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Кастомизация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❌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❌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extLst>
                  <a:ext uri="{0D108BD9-81ED-4DB2-BD59-A6C34878D82A}">
                    <a16:rowId xmlns:a16="http://schemas.microsoft.com/office/drawing/2014/main" val="1600481283"/>
                  </a:ext>
                </a:extLst>
              </a:tr>
              <a:tr h="3012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900" b="0" u="none" strike="noStrike" dirty="0" err="1">
                          <a:solidFill>
                            <a:srgbClr val="D7F3F9"/>
                          </a:solidFill>
                          <a:effectLst/>
                        </a:rPr>
                        <a:t>ClickUp</a:t>
                      </a:r>
                      <a:endParaRPr lang="en-US" sz="1900" b="0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1900" b="0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19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19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1900" b="0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040" marR="6040" marT="6040" marB="0" anchor="ctr"/>
                </a:tc>
                <a:extLst>
                  <a:ext uri="{0D108BD9-81ED-4DB2-BD59-A6C34878D82A}">
                    <a16:rowId xmlns:a16="http://schemas.microsoft.com/office/drawing/2014/main" val="3108374836"/>
                  </a:ext>
                </a:extLst>
              </a:tr>
            </a:tbl>
          </a:graphicData>
        </a:graphic>
      </p:graphicFrame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CF893EED-19F5-E792-47B2-5CA89E79B6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3579" y="3593419"/>
            <a:ext cx="4504841" cy="253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092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8447E-86C5-2469-54D8-897F4D4D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6ABE6D-372A-B6B4-E01B-13DB8956A57E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444B5A63-2002-3DA9-41B1-1C781E0B2C13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5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CD10DE8-9415-7200-024D-881BC96A019B}"/>
              </a:ext>
            </a:extLst>
          </p:cNvPr>
          <p:cNvSpPr txBox="1">
            <a:spLocks/>
          </p:cNvSpPr>
          <p:nvPr/>
        </p:nvSpPr>
        <p:spPr>
          <a:xfrm>
            <a:off x="2701871" y="344882"/>
            <a:ext cx="73771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Пример настройки доски (</a:t>
            </a:r>
            <a:r>
              <a:rPr lang="en-US" sz="3800" dirty="0">
                <a:solidFill>
                  <a:srgbClr val="A4E4F2"/>
                </a:solidFill>
                <a:latin typeface="Actay Wide Bd" pitchFamily="50" charset="-52"/>
              </a:rPr>
              <a:t>Kanban)</a:t>
            </a:r>
            <a:endParaRPr lang="ru-RU" sz="3800" dirty="0">
              <a:solidFill>
                <a:srgbClr val="A4E4F2"/>
              </a:solidFill>
              <a:latin typeface="Actay Wide Bd" pitchFamily="5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17A656-F98D-67F2-CB88-C2E156C0EEB1}"/>
              </a:ext>
            </a:extLst>
          </p:cNvPr>
          <p:cNvSpPr txBox="1"/>
          <p:nvPr/>
        </p:nvSpPr>
        <p:spPr>
          <a:xfrm>
            <a:off x="1165432" y="1865065"/>
            <a:ext cx="4517279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Trello / </a:t>
            </a:r>
            <a:r>
              <a:rPr kumimoji="0" lang="en-US" altLang="ru-RU" sz="2000" b="1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YouGile</a:t>
            </a:r>
            <a:r>
              <a:rPr kumimoji="0" lang="en-US" altLang="ru-RU" sz="2000" b="1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— 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минимум настроек:</a:t>
            </a:r>
          </a:p>
          <a:p>
            <a:pPr lvl="0" algn="ctr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en-US" altLang="ru-RU" b="0" i="1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To Do → In Progress → In Review → Done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– Карточки с описанием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– Назначение исполнителей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– Сроки и метки 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Bug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,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Feature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9691B-34A1-AECC-691F-E2EE586E755E}"/>
              </a:ext>
            </a:extLst>
          </p:cNvPr>
          <p:cNvSpPr txBox="1"/>
          <p:nvPr/>
        </p:nvSpPr>
        <p:spPr>
          <a:xfrm>
            <a:off x="6700910" y="1865065"/>
            <a:ext cx="4517279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b="1" dirty="0" err="1">
                <a:solidFill>
                  <a:srgbClr val="D7F3F9"/>
                </a:solidFill>
                <a:latin typeface="Actay Wide Bd" pitchFamily="50" charset="-52"/>
              </a:rPr>
              <a:t>Jira</a:t>
            </a:r>
            <a:r>
              <a:rPr lang="ru-RU" altLang="ru-RU" sz="2000" b="1" dirty="0">
                <a:solidFill>
                  <a:srgbClr val="D7F3F9"/>
                </a:solidFill>
                <a:latin typeface="Actay Wide Bd" pitchFamily="50" charset="-52"/>
              </a:rPr>
              <a:t>: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– Автоматические переходы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– Условия закрытия задач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– Интеграция с </a:t>
            </a:r>
            <a:r>
              <a:rPr lang="ru-RU" altLang="ru-RU" sz="2000" dirty="0" err="1">
                <a:solidFill>
                  <a:srgbClr val="D7F3F9"/>
                </a:solidFill>
                <a:latin typeface="Actay Wide Bd" pitchFamily="50" charset="-52"/>
              </a:rPr>
              <a:t>GitHub</a:t>
            </a:r>
            <a:r>
              <a:rPr lang="ru-RU" altLang="ru-RU" sz="2000" dirty="0">
                <a:solidFill>
                  <a:srgbClr val="D7F3F9"/>
                </a:solidFill>
                <a:latin typeface="Actay Wide Bd" pitchFamily="50" charset="-52"/>
              </a:rPr>
              <a:t> / </a:t>
            </a:r>
            <a:r>
              <a:rPr lang="ru-RU" altLang="ru-RU" sz="2000" dirty="0" err="1">
                <a:solidFill>
                  <a:srgbClr val="D7F3F9"/>
                </a:solidFill>
                <a:latin typeface="Actay Wide Bd" pitchFamily="50" charset="-52"/>
              </a:rPr>
              <a:t>Bitbucket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A45F09B2-F5C7-54C1-8724-9AC9FC646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7" r="8073"/>
          <a:stretch>
            <a:fillRect/>
          </a:stretch>
        </p:blipFill>
        <p:spPr bwMode="auto">
          <a:xfrm>
            <a:off x="7023052" y="3883813"/>
            <a:ext cx="3445791" cy="215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121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0462E-C489-B61F-4FEA-E6784E66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EA0DD9-8169-D8CD-57A9-775F0C6636D3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2F307CE7-1EBC-9BDD-296D-D4EE2A50A0C2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6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0AE2C2DE-5BB2-34BF-4CC6-D9F7BFFDD90D}"/>
              </a:ext>
            </a:extLst>
          </p:cNvPr>
          <p:cNvSpPr txBox="1">
            <a:spLocks/>
          </p:cNvSpPr>
          <p:nvPr/>
        </p:nvSpPr>
        <p:spPr>
          <a:xfrm>
            <a:off x="950563" y="344882"/>
            <a:ext cx="113654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Практическое сравнение для учебного проекта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040A720-FA81-1E4C-D771-C1D522592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162375"/>
              </p:ext>
            </p:extLst>
          </p:nvPr>
        </p:nvGraphicFramePr>
        <p:xfrm>
          <a:off x="1946728" y="2196441"/>
          <a:ext cx="8369300" cy="278765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410190046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61945988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876151777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212491442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1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Критерий</a:t>
                      </a:r>
                      <a:endParaRPr lang="ru-RU" sz="2000" b="1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rgbClr val="D7F3F9"/>
                          </a:solidFill>
                          <a:effectLst/>
                        </a:rPr>
                        <a:t>YouGile</a:t>
                      </a:r>
                      <a:endParaRPr lang="en-US" sz="2000" b="1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>
                          <a:solidFill>
                            <a:srgbClr val="D7F3F9"/>
                          </a:solidFill>
                          <a:effectLst/>
                        </a:rPr>
                        <a:t>Trello</a:t>
                      </a:r>
                      <a:endParaRPr lang="en-US" sz="2000" b="1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u="none" strike="noStrike" dirty="0">
                          <a:solidFill>
                            <a:srgbClr val="D7F3F9"/>
                          </a:solidFill>
                          <a:effectLst/>
                        </a:rPr>
                        <a:t>Jira</a:t>
                      </a:r>
                      <a:endParaRPr lang="en-US" sz="2000" b="1" i="0" u="none" strike="noStrike" dirty="0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367496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Русский интерфейс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Полный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Частичный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Основной — англ.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450435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Сложность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⭐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⭐⭐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⭐⭐⭐⭐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21857474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Бесплатный тариф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(до 10 чел.)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8688031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Поддержка </a:t>
                      </a:r>
                      <a:r>
                        <a:rPr lang="en-US" sz="2000" b="0" u="none" strike="noStrike">
                          <a:solidFill>
                            <a:srgbClr val="D7F3F9"/>
                          </a:solidFill>
                          <a:effectLst/>
                        </a:rPr>
                        <a:t>Kanban</a:t>
                      </a:r>
                      <a:endParaRPr lang="en-US" sz="2000" b="0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4168916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Настройка </a:t>
                      </a:r>
                      <a:r>
                        <a:rPr lang="en-US" sz="2000" b="0" u="none" strike="noStrike">
                          <a:solidFill>
                            <a:srgbClr val="D7F3F9"/>
                          </a:solidFill>
                          <a:effectLst/>
                        </a:rPr>
                        <a:t>workflow</a:t>
                      </a:r>
                      <a:endParaRPr lang="en-US" sz="2000" b="0" i="0" u="none" strike="noStrike">
                        <a:solidFill>
                          <a:srgbClr val="D7F3F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(базово)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Вручную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 (гибко)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406806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Подходит для курсовой?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✅✅✅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✅✅</a:t>
                      </a:r>
                      <a:endParaRPr lang="ru-RU" sz="2000" b="0" i="0" u="none" strike="noStrike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ru-RU" sz="2000" b="0" u="none" strike="noStrike" dirty="0">
                          <a:solidFill>
                            <a:srgbClr val="D7F3F9"/>
                          </a:solidFill>
                          <a:effectLst/>
                          <a:latin typeface="Actay Wide Bd"/>
                        </a:rPr>
                        <a:t>⚠️ Только при наличии опыта</a:t>
                      </a:r>
                      <a:endParaRPr lang="ru-RU" sz="2000" b="0" i="0" u="none" strike="noStrike" dirty="0">
                        <a:solidFill>
                          <a:srgbClr val="D7F3F9"/>
                        </a:solidFill>
                        <a:effectLst/>
                        <a:latin typeface="Actay Wide Bd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8614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51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FEE49F-0353-F9CC-D76F-8E672E6D2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456C59-311B-80BD-EC6D-0B8A5E097783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BD47BBAD-56AB-EBCA-2E41-0775C6A12BDD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7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45C467F-25C5-75CC-E91B-CB0BAECFE4B3}"/>
              </a:ext>
            </a:extLst>
          </p:cNvPr>
          <p:cNvSpPr txBox="1">
            <a:spLocks/>
          </p:cNvSpPr>
          <p:nvPr/>
        </p:nvSpPr>
        <p:spPr>
          <a:xfrm>
            <a:off x="3332135" y="342899"/>
            <a:ext cx="55277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Рекомендации по выбору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31C27F-EBE3-1DB7-58D7-3A878352527D}"/>
              </a:ext>
            </a:extLst>
          </p:cNvPr>
          <p:cNvSpPr txBox="1"/>
          <p:nvPr/>
        </p:nvSpPr>
        <p:spPr>
          <a:xfrm>
            <a:off x="2186006" y="1867803"/>
            <a:ext cx="7890744" cy="312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Начинающим / учебные проекты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YouGile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или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Trello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ts val="120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(простота, визуальность, минимум настроек)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Профессиональные команды разработки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Jira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ts val="120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(глубокая интеграция, отчётность, контроль качества)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Гибридные команды (дизайн + разработка + маркетинг) →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ClickUp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(единое пространство для всех задач)</a:t>
            </a:r>
          </a:p>
        </p:txBody>
      </p:sp>
    </p:spTree>
    <p:extLst>
      <p:ext uri="{BB962C8B-B14F-4D97-AF65-F5344CB8AC3E}">
        <p14:creationId xmlns:p14="http://schemas.microsoft.com/office/powerpoint/2010/main" val="16922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2F45F-86A6-8B8B-3734-E6AAD9CD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0DC7FBD-BE48-5C0D-CD04-39159E375CA0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омер слайда 1">
            <a:extLst>
              <a:ext uri="{FF2B5EF4-FFF2-40B4-BE49-F238E27FC236}">
                <a16:creationId xmlns:a16="http://schemas.microsoft.com/office/drawing/2014/main" id="{AE368F8C-138A-C40E-E2C1-A338389A75D9}"/>
              </a:ext>
            </a:extLst>
          </p:cNvPr>
          <p:cNvSpPr txBox="1">
            <a:spLocks/>
          </p:cNvSpPr>
          <p:nvPr/>
        </p:nvSpPr>
        <p:spPr>
          <a:xfrm>
            <a:off x="11597545" y="6428923"/>
            <a:ext cx="420282" cy="349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FDD33B-1976-4C49-9A56-2447F1B818AF}" type="slidenum">
              <a:rPr lang="ru-RU" sz="1400" b="1" smtClean="0">
                <a:solidFill>
                  <a:srgbClr val="A4E4F2"/>
                </a:solidFill>
              </a:rPr>
              <a:pPr/>
              <a:t>8</a:t>
            </a:fld>
            <a:endParaRPr lang="ru-RU" sz="1400" b="1" dirty="0">
              <a:solidFill>
                <a:srgbClr val="A4E4F2"/>
              </a:solidFill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D062066-FFA2-C4FB-87A2-C74C8C9299C2}"/>
              </a:ext>
            </a:extLst>
          </p:cNvPr>
          <p:cNvSpPr txBox="1">
            <a:spLocks/>
          </p:cNvSpPr>
          <p:nvPr/>
        </p:nvSpPr>
        <p:spPr>
          <a:xfrm>
            <a:off x="4229185" y="344882"/>
            <a:ext cx="38043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800" dirty="0">
                <a:solidFill>
                  <a:srgbClr val="A4E4F2"/>
                </a:solidFill>
                <a:latin typeface="Actay Wide Bd" pitchFamily="50" charset="-52"/>
              </a:rPr>
              <a:t>Заключение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7D08A8-6985-7C74-B11D-B191CF0EEB12}"/>
              </a:ext>
            </a:extLst>
          </p:cNvPr>
          <p:cNvSpPr txBox="1"/>
          <p:nvPr/>
        </p:nvSpPr>
        <p:spPr>
          <a:xfrm>
            <a:off x="1083128" y="1670445"/>
            <a:ext cx="9906001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Agile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невозможен без визуального управления задачами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Выбор инструмента зависит от: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           → размера команды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           → уровня сложности проекта</a:t>
            </a:r>
          </a:p>
          <a:p>
            <a:pPr lvl="0" algn="just" eaLnBrk="0" fontAlgn="base" hangingPunct="0">
              <a:lnSpc>
                <a:spcPct val="150000"/>
              </a:lnSpc>
              <a:spcAft>
                <a:spcPct val="0"/>
              </a:spcAft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           → требований к отчётности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Для проекта «Мобильное приложение для тату-салона» был успешно использован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YouGile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 — простой, русскоязычный, поддерживающий гибкий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D7F3F9"/>
                </a:solidFill>
                <a:effectLst/>
                <a:latin typeface="Actay Wide Bd" pitchFamily="50" charset="-52"/>
              </a:rPr>
              <a:t>workflow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D7F3F9"/>
              </a:solidFill>
              <a:effectLst/>
              <a:latin typeface="Actay Wide Bd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1337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26C21-FBCE-30BC-097F-D97BF1815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20EA752-787A-D2DC-5BD9-D70A61690983}"/>
              </a:ext>
            </a:extLst>
          </p:cNvPr>
          <p:cNvSpPr/>
          <p:nvPr/>
        </p:nvSpPr>
        <p:spPr>
          <a:xfrm>
            <a:off x="506186" y="342899"/>
            <a:ext cx="11250385" cy="6172202"/>
          </a:xfrm>
          <a:prstGeom prst="rect">
            <a:avLst/>
          </a:prstGeom>
          <a:solidFill>
            <a:srgbClr val="1D1D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91E7F-95D2-284B-3CE7-62A01DA0C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45508" y="584112"/>
            <a:ext cx="8420005" cy="1453908"/>
          </a:xfrm>
        </p:spPr>
        <p:txBody>
          <a:bodyPr>
            <a:norm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Министерства науки и высшего образования Российской Федерации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Федеральное государственное бюджетное образовательно учреждение высшего образования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«Заполярный государственный университет имени Н. М. Федоровского»</a:t>
            </a:r>
            <a:b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</a:br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Кафедра информационных систем и технологий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5C29685-612D-280D-A506-01B37A6F2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872" y="2954768"/>
            <a:ext cx="6011027" cy="1763408"/>
          </a:xfrm>
        </p:spPr>
        <p:txBody>
          <a:bodyPr>
            <a:normAutofit fontScale="92500"/>
          </a:bodyPr>
          <a:lstStyle/>
          <a:p>
            <a:pPr algn="l"/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«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Инструменты управления задачами в </a:t>
            </a:r>
            <a:r>
              <a:rPr lang="ru-RU" sz="4000" kern="0" dirty="0" err="1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Agile</a:t>
            </a:r>
            <a:r>
              <a:rPr lang="ru-RU" sz="4000" kern="0" dirty="0">
                <a:solidFill>
                  <a:srgbClr val="A4E4F2"/>
                </a:solidFill>
                <a:effectLst/>
                <a:latin typeface="Actay Wide Bd" pitchFamily="50" charset="-52"/>
                <a:ea typeface="Times New Roman" panose="02020603050405020304" pitchFamily="18" charset="0"/>
              </a:rPr>
              <a:t>-проектах</a:t>
            </a:r>
            <a:r>
              <a:rPr lang="ru-RU" sz="4800" dirty="0">
                <a:solidFill>
                  <a:srgbClr val="A4E4F2"/>
                </a:solidFill>
                <a:latin typeface="Actay Wide Bd" pitchFamily="50" charset="-52"/>
              </a:rPr>
              <a:t>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6E21A-7970-4940-6FCC-BB2E56619D40}"/>
              </a:ext>
            </a:extLst>
          </p:cNvPr>
          <p:cNvSpPr txBox="1"/>
          <p:nvPr/>
        </p:nvSpPr>
        <p:spPr>
          <a:xfrm>
            <a:off x="808873" y="4870845"/>
            <a:ext cx="3273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выполнили: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Студенты группы ИС-23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Сулейманов А. Ш.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Решетов В.В.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9CCB1-5F17-253E-DFFE-20C4705F917D}"/>
              </a:ext>
            </a:extLst>
          </p:cNvPr>
          <p:cNvSpPr txBox="1"/>
          <p:nvPr/>
        </p:nvSpPr>
        <p:spPr>
          <a:xfrm>
            <a:off x="8614597" y="4993955"/>
            <a:ext cx="1765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Работу проверил:</a:t>
            </a:r>
          </a:p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Сидельников М.Э.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1A6707-52C5-441B-2F42-E0D861826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2" y="4263197"/>
            <a:ext cx="5842299" cy="3023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EFC425-C192-4C84-C570-F350036133A6}"/>
              </a:ext>
            </a:extLst>
          </p:cNvPr>
          <p:cNvSpPr txBox="1"/>
          <p:nvPr/>
        </p:nvSpPr>
        <p:spPr>
          <a:xfrm>
            <a:off x="5217035" y="6008550"/>
            <a:ext cx="20763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rgbClr val="A4E4F2"/>
                </a:solidFill>
                <a:latin typeface="Actay Wide Bd" pitchFamily="50" charset="-52"/>
              </a:rPr>
              <a:t>Норильск, 2025</a:t>
            </a:r>
          </a:p>
        </p:txBody>
      </p:sp>
    </p:spTree>
    <p:extLst>
      <p:ext uri="{BB962C8B-B14F-4D97-AF65-F5344CB8AC3E}">
        <p14:creationId xmlns:p14="http://schemas.microsoft.com/office/powerpoint/2010/main" val="333250475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493</Words>
  <Application>Microsoft Office PowerPoint</Application>
  <PresentationFormat>Широкоэкранный</PresentationFormat>
  <Paragraphs>117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Actay Wide Bd</vt:lpstr>
      <vt:lpstr>Aptos</vt:lpstr>
      <vt:lpstr>Aptos Display</vt:lpstr>
      <vt:lpstr>Arial</vt:lpstr>
      <vt:lpstr>Calibri</vt:lpstr>
      <vt:lpstr>Тема Office</vt:lpstr>
      <vt:lpstr>Министерства науки и высшего образования Российской Федерации Федеральное государственное бюджетное образовательно учреждение высшего образования «Заполярный государственный университет имени Н. М. Федоровского» Кафедра информационных систем и технологий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Министерства науки и высшего образования Российской Федерации Федеральное государственное бюджетное образовательно учреждение высшего образования «Заполярный государственный университет имени Н. М. Федоровского» Кафедра информационных систем и технологий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Амир Сулейманов</dc:creator>
  <cp:lastModifiedBy>Амир Сулейманов</cp:lastModifiedBy>
  <cp:revision>33</cp:revision>
  <dcterms:created xsi:type="dcterms:W3CDTF">2025-05-23T18:01:55Z</dcterms:created>
  <dcterms:modified xsi:type="dcterms:W3CDTF">2025-12-19T08:21:29Z</dcterms:modified>
</cp:coreProperties>
</file>