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7" r:id="rId4"/>
    <p:sldId id="263" r:id="rId5"/>
    <p:sldId id="261" r:id="rId6"/>
    <p:sldId id="262" r:id="rId7"/>
    <p:sldId id="264" r:id="rId8"/>
    <p:sldId id="258" r:id="rId9"/>
    <p:sldId id="259" r:id="rId10"/>
    <p:sldId id="260" r:id="rId11"/>
    <p:sldId id="266" r:id="rId12"/>
    <p:sldId id="265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FF91"/>
    <a:srgbClr val="BAE18F"/>
    <a:srgbClr val="FFFC71"/>
    <a:srgbClr val="FFD85B"/>
    <a:srgbClr val="8BC5FF"/>
    <a:srgbClr val="2611A2"/>
    <a:srgbClr val="3621FF"/>
    <a:srgbClr val="517AFF"/>
    <a:srgbClr val="51A0FF"/>
    <a:srgbClr val="51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8B06E-D965-4F6C-8B6A-38A632876A4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E7A14-17F4-4548-9030-278B4B72B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55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E7A14-17F4-4548-9030-278B4B72B2D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579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rtlCol="0" anchor="ctr" anchorCtr="0">
            <a:noAutofit/>
          </a:bodyPr>
          <a:lstStyle>
            <a:lvl1pPr algn="l">
              <a:lnSpc>
                <a:spcPct val="100000"/>
              </a:lnSpc>
              <a:defRPr lang="ru-RU" sz="48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32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rtlCol="0"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20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Нижний колонтитул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Дата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20" name="Номер слайда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48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40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Рисунок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marL="0" indent="0" algn="ctr">
              <a:buNone/>
              <a:defRPr lang="ru-RU"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15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rtlCol="0" anchor="b"/>
          <a:lstStyle>
            <a:lvl1pPr>
              <a:lnSpc>
                <a:spcPct val="100000"/>
              </a:lnSpc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ru-RU" sz="20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2000">
                <a:solidFill>
                  <a:schemeClr val="tx2"/>
                </a:solidFill>
              </a:rPr>
              <a:t>Подзаголовок слайда</a:t>
            </a:r>
          </a:p>
        </p:txBody>
      </p:sp>
      <p:sp>
        <p:nvSpPr>
          <p:cNvPr id="40" name="Рисунок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099" y="1095509"/>
            <a:ext cx="6391656" cy="50168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92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имое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 rtlCol="0"/>
          <a:lstStyle>
            <a:lvl1pPr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71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rtlCol="0" anchor="b" anchorCtr="0">
            <a:noAutofit/>
          </a:bodyPr>
          <a:lstStyle>
            <a:lvl1pPr algn="l">
              <a:lnSpc>
                <a:spcPct val="100000"/>
              </a:lnSpc>
              <a:defRPr lang="ru-RU" sz="48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rtlCol="0" anchor="t"/>
          <a:lstStyle>
            <a:lvl1pPr marL="0" indent="0">
              <a:lnSpc>
                <a:spcPct val="125000"/>
              </a:lnSpc>
              <a:buNone/>
              <a:defRPr lang="ru-RU" sz="2400" b="0" kern="1200" spc="150" baseline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ru-RU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25198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2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Дата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69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rtlCol="0"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70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Нижний колонтитул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24" name="Дата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 rtlCol="0"/>
          <a:lstStyle>
            <a:lvl1pPr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81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2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5075238" y="461735"/>
            <a:ext cx="6473842" cy="3867150"/>
          </a:xfrm>
        </p:spPr>
        <p:txBody>
          <a:bodyPr rtlCol="0" anchor="t"/>
          <a:lstStyle>
            <a:lvl1pPr marL="0" indent="0" algn="ctr">
              <a:buNone/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  <a:endParaRPr lang="ru-RU" dirty="0"/>
          </a:p>
        </p:txBody>
      </p:sp>
      <p:sp>
        <p:nvSpPr>
          <p:cNvPr id="15" name="Дата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28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 объек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rtlCol="0"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Нижний колонтитул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0" name="Дата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 rtlCol="0"/>
          <a:lstStyle>
            <a:lvl1pPr>
              <a:defRPr lang="ru-RU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12" name="Номер слайда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77673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4" name="Заполнитель таблицы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630363" y="2757951"/>
            <a:ext cx="9918700" cy="3387579"/>
          </a:xfrm>
        </p:spPr>
        <p:txBody>
          <a:bodyPr rtlCol="0" anchor="t"/>
          <a:lstStyle>
            <a:lvl1pPr marL="0" indent="0" algn="ctr">
              <a:buNone/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Дата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866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имо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17" name="Нижний колонтитул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 rtlCol="0"/>
          <a:lstStyle>
            <a:lvl1pPr>
              <a:defRPr lang="ru-RU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Дата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20" name="Номер слайда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52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E66A7-4909-9F50-FAF7-CFFB3A44D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6128A2-1905-C364-4E3E-7BEA3B589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6CEC66-CF95-DD5D-ADE8-00B54FBD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CBA81B-94CB-1B0D-7A5F-B1D539F6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C1F940-00E9-E5F9-67DA-AC516116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46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76671" y="6309360"/>
            <a:ext cx="454961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ru-RU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90048F-0A82-4AF3-BE24-08A257999867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42918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ru-RU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lang="ru-RU"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D33833A-2B68-43CC-AF06-6560C17909E9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46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lang="ru-RU" sz="3200" b="1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83464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800" b="1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66928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6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0392" indent="-283464" algn="l" defTabSz="914400" rtl="0" eaLnBrk="1" latinLnBrk="0" hangingPunct="1">
        <a:lnSpc>
          <a:spcPct val="10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133856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417320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D8045-00DB-1158-2800-700D321E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7022" y="2101174"/>
            <a:ext cx="6540228" cy="28015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000" dirty="0"/>
              <a:t>Коммуникация и взаимодействие в распределенных ИТ-командах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91C121-79B4-3013-36BB-194E632B2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94" y="4426085"/>
            <a:ext cx="4572000" cy="1799616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</a:pPr>
            <a:r>
              <a:rPr lang="ru-RU" dirty="0"/>
              <a:t>Выполнили</a:t>
            </a:r>
            <a:r>
              <a:rPr lang="en-US" dirty="0"/>
              <a:t>:</a:t>
            </a:r>
            <a:endParaRPr lang="ru-RU" dirty="0"/>
          </a:p>
          <a:p>
            <a:pPr algn="l">
              <a:lnSpc>
                <a:spcPct val="110000"/>
              </a:lnSpc>
            </a:pPr>
            <a:r>
              <a:rPr lang="ru-RU" dirty="0"/>
              <a:t>Студенты группы ИС-23</a:t>
            </a:r>
          </a:p>
          <a:p>
            <a:pPr algn="l">
              <a:lnSpc>
                <a:spcPct val="110000"/>
              </a:lnSpc>
            </a:pPr>
            <a:r>
              <a:rPr lang="ru-RU" dirty="0"/>
              <a:t>Макаров Д. Е.</a:t>
            </a:r>
          </a:p>
          <a:p>
            <a:pPr algn="l">
              <a:lnSpc>
                <a:spcPct val="110000"/>
              </a:lnSpc>
            </a:pPr>
            <a:r>
              <a:rPr lang="ru-RU" dirty="0"/>
              <a:t>Долгополов М. Ю.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FBC4544-7AF1-52D1-A654-3609E217E033}"/>
              </a:ext>
            </a:extLst>
          </p:cNvPr>
          <p:cNvSpPr txBox="1">
            <a:spLocks/>
          </p:cNvSpPr>
          <p:nvPr/>
        </p:nvSpPr>
        <p:spPr>
          <a:xfrm>
            <a:off x="4776282" y="65398"/>
            <a:ext cx="7415718" cy="139543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lang="ru-RU" sz="12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«заполярный государственный университет им. Н.М. Федоровского»</a:t>
            </a: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Факультет электроэнергетики, экономики и управления</a:t>
            </a: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Кафедра информационных систем и технологий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A95F8-AD67-CA33-6A2E-F38702AF090D}"/>
              </a:ext>
            </a:extLst>
          </p:cNvPr>
          <p:cNvSpPr txBox="1"/>
          <p:nvPr/>
        </p:nvSpPr>
        <p:spPr>
          <a:xfrm>
            <a:off x="7000671" y="6462402"/>
            <a:ext cx="313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Г. Норильск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2025 г.</a:t>
            </a:r>
          </a:p>
        </p:txBody>
      </p:sp>
    </p:spTree>
    <p:extLst>
      <p:ext uri="{BB962C8B-B14F-4D97-AF65-F5344CB8AC3E}">
        <p14:creationId xmlns:p14="http://schemas.microsoft.com/office/powerpoint/2010/main" val="3921398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60DA7B5-2ED7-7CBB-3B07-B644E68B5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Распределенные</a:t>
            </a:r>
            <a:br>
              <a:rPr lang="ru-RU" dirty="0"/>
            </a:br>
            <a:r>
              <a:rPr lang="en-US" dirty="0"/>
              <a:t>it-</a:t>
            </a:r>
            <a:r>
              <a:rPr lang="ru-RU" dirty="0"/>
              <a:t>команды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A1C4EE-4758-AB54-3916-9B5CD2A1B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948" y="230190"/>
            <a:ext cx="4337048" cy="4337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A3C71E-7D71-0336-1AC9-BC0D0F64997E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ru-RU" sz="28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6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E7B3810-2A9E-A741-7B90-4065262F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042" y="962423"/>
            <a:ext cx="11121957" cy="1216152"/>
          </a:xfrm>
        </p:spPr>
        <p:txBody>
          <a:bodyPr/>
          <a:lstStyle/>
          <a:p>
            <a:pPr algn="ctr"/>
            <a:r>
              <a:rPr lang="ru-RU" dirty="0"/>
              <a:t>Применение методологий в распределенных </a:t>
            </a:r>
            <a:br>
              <a:rPr lang="en-US" dirty="0"/>
            </a:br>
            <a:r>
              <a:rPr lang="en-US" dirty="0"/>
              <a:t>IT-</a:t>
            </a:r>
            <a:r>
              <a:rPr lang="ru-RU" dirty="0"/>
              <a:t>командах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2B28DBE-A97C-BCA4-4297-00CDE671AE7D}"/>
              </a:ext>
            </a:extLst>
          </p:cNvPr>
          <p:cNvGrpSpPr/>
          <p:nvPr/>
        </p:nvGrpSpPr>
        <p:grpSpPr>
          <a:xfrm>
            <a:off x="1377597" y="2398878"/>
            <a:ext cx="3416121" cy="4049413"/>
            <a:chOff x="1275697" y="2398878"/>
            <a:chExt cx="3416121" cy="4049413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515AE61F-A367-6E2B-E857-983C07A02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697" y="2398878"/>
              <a:ext cx="3416121" cy="3429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D67A27-B460-9714-50BE-63EE5B559897}"/>
                </a:ext>
              </a:extLst>
            </p:cNvPr>
            <p:cNvSpPr txBox="1"/>
            <p:nvPr/>
          </p:nvSpPr>
          <p:spPr>
            <a:xfrm>
              <a:off x="1327577" y="6048181"/>
              <a:ext cx="3312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1. </a:t>
              </a:r>
              <a:r>
                <a:rPr lang="ru-RU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Управление проектами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31FA4B8-E73B-5E09-9954-CDEF23A64B58}"/>
              </a:ext>
            </a:extLst>
          </p:cNvPr>
          <p:cNvGrpSpPr/>
          <p:nvPr/>
        </p:nvGrpSpPr>
        <p:grpSpPr>
          <a:xfrm>
            <a:off x="4974840" y="2660440"/>
            <a:ext cx="3312360" cy="3787851"/>
            <a:chOff x="4804633" y="2660440"/>
            <a:chExt cx="3312360" cy="3787851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11D3F5BC-5D96-BB46-4EBB-C45D80890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3707" y="2660440"/>
              <a:ext cx="3154213" cy="325918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5B9718-1F01-4B12-1D8C-C02AAB4E64C1}"/>
                </a:ext>
              </a:extLst>
            </p:cNvPr>
            <p:cNvSpPr txBox="1"/>
            <p:nvPr/>
          </p:nvSpPr>
          <p:spPr>
            <a:xfrm>
              <a:off x="4804633" y="6048181"/>
              <a:ext cx="3312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r>
                <a:rPr lang="ru-RU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Коммуникация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60B3F70-1BA2-B0B2-2261-D56EB7B670C8}"/>
              </a:ext>
            </a:extLst>
          </p:cNvPr>
          <p:cNvGrpSpPr/>
          <p:nvPr/>
        </p:nvGrpSpPr>
        <p:grpSpPr>
          <a:xfrm>
            <a:off x="8389249" y="2547907"/>
            <a:ext cx="3416121" cy="3888233"/>
            <a:chOff x="8612985" y="2502213"/>
            <a:chExt cx="3416121" cy="3888233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8DA285A-8069-AEA2-ED9D-125E62E89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39" r="14548"/>
            <a:stretch>
              <a:fillRect/>
            </a:stretch>
          </p:blipFill>
          <p:spPr>
            <a:xfrm>
              <a:off x="8612985" y="2502213"/>
              <a:ext cx="3416121" cy="35459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656A53-E2D8-DED3-E1CA-7FDAE0806F2D}"/>
                </a:ext>
              </a:extLst>
            </p:cNvPr>
            <p:cNvSpPr txBox="1"/>
            <p:nvPr/>
          </p:nvSpPr>
          <p:spPr>
            <a:xfrm>
              <a:off x="8664865" y="5990336"/>
              <a:ext cx="3312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r>
                <a:rPr lang="ru-RU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Командная динамика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BA996B2-9479-0432-B59F-6D17D4E5EDD9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38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7FCB-1421-4872-CBD6-5C19969B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4DAC6C1-3FCC-53EA-C0B8-2B776E30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06" y="255011"/>
            <a:ext cx="4363518" cy="659389"/>
          </a:xfrm>
        </p:spPr>
        <p:txBody>
          <a:bodyPr/>
          <a:lstStyle/>
          <a:p>
            <a:pPr algn="ctr"/>
            <a:r>
              <a:rPr lang="en-US" sz="4400" dirty="0"/>
              <a:t>Scrum</a:t>
            </a:r>
            <a:endParaRPr lang="ru-RU" sz="44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74E18BD-79EB-914C-980F-D40D2AC0E4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1206" y="914400"/>
            <a:ext cx="4363518" cy="5688589"/>
          </a:xfrm>
        </p:spPr>
        <p:txBody>
          <a:bodyPr>
            <a:normAutofit lnSpcReduction="10000"/>
          </a:bodyPr>
          <a:lstStyle/>
          <a:p>
            <a:r>
              <a:rPr lang="ru-RU" sz="2400" b="1" dirty="0"/>
              <a:t>Преимущества</a:t>
            </a:r>
            <a:r>
              <a:rPr lang="ru-RU" sz="2400" dirty="0"/>
              <a:t> адаптации </a:t>
            </a:r>
            <a:r>
              <a:rPr lang="ru-RU" sz="2400" dirty="0" err="1"/>
              <a:t>Scrum</a:t>
            </a:r>
            <a:r>
              <a:rPr lang="ru-RU" sz="2400" dirty="0"/>
              <a:t> для удалённых команд:</a:t>
            </a:r>
          </a:p>
          <a:p>
            <a:r>
              <a:rPr lang="ru-RU" sz="2400" dirty="0"/>
              <a:t>• прозрачность задач и приоритетов;</a:t>
            </a:r>
          </a:p>
          <a:p>
            <a:r>
              <a:rPr lang="ru-RU" sz="2400" dirty="0"/>
              <a:t>• высокая вовлечённость участников;</a:t>
            </a:r>
          </a:p>
          <a:p>
            <a:r>
              <a:rPr lang="ru-RU" sz="2400" dirty="0"/>
              <a:t>• возможность быстрой обратной связи.</a:t>
            </a:r>
          </a:p>
          <a:p>
            <a:r>
              <a:rPr lang="ru-RU" sz="2400" b="1" dirty="0"/>
              <a:t>Основные трудности</a:t>
            </a:r>
            <a:r>
              <a:rPr lang="ru-RU" sz="2400" dirty="0"/>
              <a:t>: необходимость учитывать разницу во времени и дисциплину в онлайн-встречах.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70787E-9390-BCE9-239E-529595DAA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102" y="1414499"/>
            <a:ext cx="6828817" cy="4029002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8BE7AE73-677C-C626-721C-43C6677FB461}"/>
              </a:ext>
            </a:extLst>
          </p:cNvPr>
          <p:cNvSpPr txBox="1">
            <a:spLocks/>
          </p:cNvSpPr>
          <p:nvPr/>
        </p:nvSpPr>
        <p:spPr>
          <a:xfrm>
            <a:off x="6216454" y="255011"/>
            <a:ext cx="4363518" cy="659389"/>
          </a:xfrm>
          <a:prstGeom prst="rect">
            <a:avLst/>
          </a:prstGeom>
        </p:spPr>
        <p:txBody>
          <a:bodyPr vert="horz" lIns="109728" tIns="109728" rIns="109728" bIns="9144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ru-RU" sz="4400" dirty="0"/>
              <a:t>Схема </a:t>
            </a:r>
            <a:r>
              <a:rPr lang="en-US" sz="4400" dirty="0"/>
              <a:t>Scrum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F4CDE-C740-DD9A-1DD5-6A4CEE21D506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9549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BE56F7A-3C88-14CF-4EBE-9CFE2D601243}"/>
              </a:ext>
            </a:extLst>
          </p:cNvPr>
          <p:cNvSpPr/>
          <p:nvPr/>
        </p:nvSpPr>
        <p:spPr>
          <a:xfrm>
            <a:off x="4824919" y="2042809"/>
            <a:ext cx="1653702" cy="3414408"/>
          </a:xfrm>
          <a:prstGeom prst="roundRect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1437FAC-815C-27ED-2D31-D24FE03E4B58}"/>
              </a:ext>
            </a:extLst>
          </p:cNvPr>
          <p:cNvSpPr/>
          <p:nvPr/>
        </p:nvSpPr>
        <p:spPr>
          <a:xfrm>
            <a:off x="6679660" y="2042809"/>
            <a:ext cx="1653702" cy="3414408"/>
          </a:xfrm>
          <a:prstGeom prst="roundRect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FB26E09-BF9A-B2DA-7BB8-8E220B3BF4AB}"/>
              </a:ext>
            </a:extLst>
          </p:cNvPr>
          <p:cNvSpPr/>
          <p:nvPr/>
        </p:nvSpPr>
        <p:spPr>
          <a:xfrm>
            <a:off x="8534401" y="2042809"/>
            <a:ext cx="1653702" cy="3414408"/>
          </a:xfrm>
          <a:prstGeom prst="round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384DBE-2111-498B-F1F6-57F38322018D}"/>
              </a:ext>
            </a:extLst>
          </p:cNvPr>
          <p:cNvSpPr/>
          <p:nvPr/>
        </p:nvSpPr>
        <p:spPr>
          <a:xfrm>
            <a:off x="10391424" y="2042809"/>
            <a:ext cx="1653702" cy="3414408"/>
          </a:xfrm>
          <a:prstGeom prst="round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3">
            <a:extLst>
              <a:ext uri="{FF2B5EF4-FFF2-40B4-BE49-F238E27FC236}">
                <a16:creationId xmlns:a16="http://schemas.microsoft.com/office/drawing/2014/main" id="{7E86E16D-7B1F-78C2-6F08-F3172C33DDEB}"/>
              </a:ext>
            </a:extLst>
          </p:cNvPr>
          <p:cNvSpPr txBox="1">
            <a:spLocks/>
          </p:cNvSpPr>
          <p:nvPr/>
        </p:nvSpPr>
        <p:spPr>
          <a:xfrm>
            <a:off x="111206" y="255011"/>
            <a:ext cx="4363518" cy="659389"/>
          </a:xfrm>
          <a:prstGeom prst="rect">
            <a:avLst/>
          </a:prstGeom>
        </p:spPr>
        <p:txBody>
          <a:bodyPr vert="horz" lIns="109728" tIns="109728" rIns="109728" bIns="9144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400" dirty="0"/>
              <a:t>Kanban</a:t>
            </a:r>
          </a:p>
        </p:txBody>
      </p:sp>
      <p:sp>
        <p:nvSpPr>
          <p:cNvPr id="12" name="Объект 4">
            <a:extLst>
              <a:ext uri="{FF2B5EF4-FFF2-40B4-BE49-F238E27FC236}">
                <a16:creationId xmlns:a16="http://schemas.microsoft.com/office/drawing/2014/main" id="{961139F0-CC29-8726-0B60-AAD163B70B96}"/>
              </a:ext>
            </a:extLst>
          </p:cNvPr>
          <p:cNvSpPr txBox="1">
            <a:spLocks/>
          </p:cNvSpPr>
          <p:nvPr/>
        </p:nvSpPr>
        <p:spPr>
          <a:xfrm>
            <a:off x="111206" y="914400"/>
            <a:ext cx="4363518" cy="528211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ru-RU"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66928" indent="-28575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/>
              <a:t>Преимущества: </a:t>
            </a:r>
            <a:r>
              <a:rPr lang="ru-RU" sz="2800" dirty="0"/>
              <a:t>простота, гибкость и визуальная наглядность.</a:t>
            </a:r>
            <a:endParaRPr lang="en-US" sz="2800" dirty="0"/>
          </a:p>
          <a:p>
            <a:endParaRPr lang="ru-RU" sz="2800" dirty="0"/>
          </a:p>
          <a:p>
            <a:r>
              <a:rPr lang="ru-RU" sz="2800" b="1" dirty="0"/>
              <a:t>Недостатки: </a:t>
            </a:r>
            <a:r>
              <a:rPr lang="ru-RU" sz="2800" dirty="0"/>
              <a:t>отсутствие чёткого цикла итераций может привести к «растягиванию» задач без жёстких сроков</a:t>
            </a:r>
            <a:r>
              <a:rPr lang="en-US" sz="2800" dirty="0"/>
              <a:t>.</a:t>
            </a:r>
            <a:endParaRPr lang="ru-RU" sz="2800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8AAC315-E014-BA72-77D8-06672633EEB4}"/>
              </a:ext>
            </a:extLst>
          </p:cNvPr>
          <p:cNvSpPr/>
          <p:nvPr/>
        </p:nvSpPr>
        <p:spPr>
          <a:xfrm>
            <a:off x="4824919" y="1400783"/>
            <a:ext cx="1653702" cy="607103"/>
          </a:xfrm>
          <a:prstGeom prst="roundRect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Сделать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354B745-511D-A714-43CD-F1F754B467B8}"/>
              </a:ext>
            </a:extLst>
          </p:cNvPr>
          <p:cNvSpPr/>
          <p:nvPr/>
        </p:nvSpPr>
        <p:spPr>
          <a:xfrm>
            <a:off x="6679660" y="1400783"/>
            <a:ext cx="1653702" cy="607103"/>
          </a:xfrm>
          <a:prstGeom prst="roundRect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Делается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E683038-7FFD-F4F8-961F-BA7C0D889EA2}"/>
              </a:ext>
            </a:extLst>
          </p:cNvPr>
          <p:cNvSpPr/>
          <p:nvPr/>
        </p:nvSpPr>
        <p:spPr>
          <a:xfrm>
            <a:off x="8534401" y="1400783"/>
            <a:ext cx="1653702" cy="607103"/>
          </a:xfrm>
          <a:prstGeom prst="round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Тестируется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106C5AD-B1D4-10A5-D9D2-83E679C3974F}"/>
              </a:ext>
            </a:extLst>
          </p:cNvPr>
          <p:cNvSpPr/>
          <p:nvPr/>
        </p:nvSpPr>
        <p:spPr>
          <a:xfrm>
            <a:off x="10389142" y="1400782"/>
            <a:ext cx="1653702" cy="607103"/>
          </a:xfrm>
          <a:prstGeom prst="round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Готово</a:t>
            </a:r>
          </a:p>
        </p:txBody>
      </p:sp>
      <p:sp>
        <p:nvSpPr>
          <p:cNvPr id="17" name="Прямоугольник: загнутый угол 16">
            <a:extLst>
              <a:ext uri="{FF2B5EF4-FFF2-40B4-BE49-F238E27FC236}">
                <a16:creationId xmlns:a16="http://schemas.microsoft.com/office/drawing/2014/main" id="{756D38DF-3B2E-395B-0689-617A540E4950}"/>
              </a:ext>
            </a:extLst>
          </p:cNvPr>
          <p:cNvSpPr/>
          <p:nvPr/>
        </p:nvSpPr>
        <p:spPr>
          <a:xfrm>
            <a:off x="4951379" y="2247088"/>
            <a:ext cx="758757" cy="725587"/>
          </a:xfrm>
          <a:prstGeom prst="foldedCorner">
            <a:avLst/>
          </a:prstGeom>
          <a:solidFill>
            <a:srgbClr val="37F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#1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8" name="Прямоугольник: загнутый угол 17">
            <a:extLst>
              <a:ext uri="{FF2B5EF4-FFF2-40B4-BE49-F238E27FC236}">
                <a16:creationId xmlns:a16="http://schemas.microsoft.com/office/drawing/2014/main" id="{630960A3-EF3C-D5D2-6779-8F4B6214CCFE}"/>
              </a:ext>
            </a:extLst>
          </p:cNvPr>
          <p:cNvSpPr/>
          <p:nvPr/>
        </p:nvSpPr>
        <p:spPr>
          <a:xfrm>
            <a:off x="5439864" y="3126565"/>
            <a:ext cx="758757" cy="725587"/>
          </a:xfrm>
          <a:prstGeom prst="foldedCorner">
            <a:avLst>
              <a:gd name="adj" fmla="val 19348"/>
            </a:avLst>
          </a:prstGeom>
          <a:solidFill>
            <a:srgbClr val="37F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#2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9" name="Прямоугольник: загнутый угол 18">
            <a:extLst>
              <a:ext uri="{FF2B5EF4-FFF2-40B4-BE49-F238E27FC236}">
                <a16:creationId xmlns:a16="http://schemas.microsoft.com/office/drawing/2014/main" id="{B5BEABC5-5601-DDF1-F750-10E9BF69CA52}"/>
              </a:ext>
            </a:extLst>
          </p:cNvPr>
          <p:cNvSpPr/>
          <p:nvPr/>
        </p:nvSpPr>
        <p:spPr>
          <a:xfrm>
            <a:off x="5011846" y="4056431"/>
            <a:ext cx="758757" cy="725587"/>
          </a:xfrm>
          <a:prstGeom prst="foldedCorner">
            <a:avLst/>
          </a:prstGeom>
          <a:solidFill>
            <a:srgbClr val="37F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#3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20" name="Прямоугольник: загнутый угол 19">
            <a:extLst>
              <a:ext uri="{FF2B5EF4-FFF2-40B4-BE49-F238E27FC236}">
                <a16:creationId xmlns:a16="http://schemas.microsoft.com/office/drawing/2014/main" id="{48EE7475-37AA-0A74-1E0B-96A42906C10F}"/>
              </a:ext>
            </a:extLst>
          </p:cNvPr>
          <p:cNvSpPr/>
          <p:nvPr/>
        </p:nvSpPr>
        <p:spPr>
          <a:xfrm>
            <a:off x="7127132" y="2291737"/>
            <a:ext cx="758757" cy="725587"/>
          </a:xfrm>
          <a:prstGeom prst="foldedCorner">
            <a:avLst/>
          </a:prstGeom>
          <a:solidFill>
            <a:srgbClr val="BAE1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#4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21" name="Прямоугольник: загнутый угол 20">
            <a:extLst>
              <a:ext uri="{FF2B5EF4-FFF2-40B4-BE49-F238E27FC236}">
                <a16:creationId xmlns:a16="http://schemas.microsoft.com/office/drawing/2014/main" id="{6654815D-0CD4-03E7-B57C-C1ABF594151A}"/>
              </a:ext>
            </a:extLst>
          </p:cNvPr>
          <p:cNvSpPr/>
          <p:nvPr/>
        </p:nvSpPr>
        <p:spPr>
          <a:xfrm>
            <a:off x="8981873" y="2247088"/>
            <a:ext cx="758757" cy="725587"/>
          </a:xfrm>
          <a:prstGeom prst="foldedCorner">
            <a:avLst/>
          </a:prstGeom>
          <a:solidFill>
            <a:srgbClr val="FFF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#5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22" name="Прямоугольник: загнутый угол 21">
            <a:extLst>
              <a:ext uri="{FF2B5EF4-FFF2-40B4-BE49-F238E27FC236}">
                <a16:creationId xmlns:a16="http://schemas.microsoft.com/office/drawing/2014/main" id="{0CFA496A-0EF1-82AD-47E5-894913BE28E0}"/>
              </a:ext>
            </a:extLst>
          </p:cNvPr>
          <p:cNvSpPr/>
          <p:nvPr/>
        </p:nvSpPr>
        <p:spPr>
          <a:xfrm>
            <a:off x="10836614" y="2175752"/>
            <a:ext cx="758757" cy="725587"/>
          </a:xfrm>
          <a:prstGeom prst="foldedCorner">
            <a:avLst/>
          </a:prstGeom>
          <a:solidFill>
            <a:srgbClr val="FFD8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#6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23" name="Заголовок 3">
            <a:extLst>
              <a:ext uri="{FF2B5EF4-FFF2-40B4-BE49-F238E27FC236}">
                <a16:creationId xmlns:a16="http://schemas.microsoft.com/office/drawing/2014/main" id="{1DA79D19-3F07-5B12-72AB-F529B5C57BE0}"/>
              </a:ext>
            </a:extLst>
          </p:cNvPr>
          <p:cNvSpPr txBox="1">
            <a:spLocks/>
          </p:cNvSpPr>
          <p:nvPr/>
        </p:nvSpPr>
        <p:spPr>
          <a:xfrm>
            <a:off x="6216454" y="255011"/>
            <a:ext cx="4363518" cy="659389"/>
          </a:xfrm>
          <a:prstGeom prst="rect">
            <a:avLst/>
          </a:prstGeom>
        </p:spPr>
        <p:txBody>
          <a:bodyPr vert="horz" lIns="109728" tIns="109728" rIns="109728" bIns="9144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ru-RU" sz="4400" dirty="0"/>
              <a:t>Схема </a:t>
            </a:r>
            <a:r>
              <a:rPr lang="en-US" sz="4400" dirty="0"/>
              <a:t>Kanban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244C7-5628-F6CE-D2BE-C07065E6981D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4044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708C-207B-788F-6B5C-3F5EF723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42645527-D5E2-DC82-BD6F-3A9C2604D73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34108" y="2349973"/>
            <a:ext cx="540000" cy="353438"/>
          </a:xfrm>
          <a:prstGeom prst="bentConnector2">
            <a:avLst/>
          </a:prstGeom>
          <a:ln w="38100">
            <a:solidFill>
              <a:srgbClr val="51C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43F8D5C1-0DAC-4E8C-6BAA-86B3BEC93ED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67084" y="3252025"/>
            <a:ext cx="583785" cy="327498"/>
          </a:xfrm>
          <a:prstGeom prst="bentConnector2">
            <a:avLst/>
          </a:prstGeom>
          <a:ln w="38100">
            <a:solidFill>
              <a:srgbClr val="51A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4C0A3C33-0FA2-5623-25AD-A6A2A71B1D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94642" y="4177340"/>
            <a:ext cx="615707" cy="330740"/>
          </a:xfrm>
          <a:prstGeom prst="bentConnector2">
            <a:avLst/>
          </a:prstGeom>
          <a:ln w="38100">
            <a:solidFill>
              <a:srgbClr val="517A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1CD60604-735E-6CAF-D485-0819ADB146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75324" y="5084695"/>
            <a:ext cx="531652" cy="317770"/>
          </a:xfrm>
          <a:prstGeom prst="bentConnector2">
            <a:avLst/>
          </a:prstGeom>
          <a:ln w="38100">
            <a:solidFill>
              <a:srgbClr val="362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бъект 4">
            <a:extLst>
              <a:ext uri="{FF2B5EF4-FFF2-40B4-BE49-F238E27FC236}">
                <a16:creationId xmlns:a16="http://schemas.microsoft.com/office/drawing/2014/main" id="{504FF671-4EA6-F1CD-05AB-1D14913E054D}"/>
              </a:ext>
            </a:extLst>
          </p:cNvPr>
          <p:cNvSpPr txBox="1">
            <a:spLocks/>
          </p:cNvSpPr>
          <p:nvPr/>
        </p:nvSpPr>
        <p:spPr>
          <a:xfrm>
            <a:off x="111206" y="914401"/>
            <a:ext cx="4363518" cy="568858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ru-RU"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66928" indent="-28575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800" dirty="0"/>
          </a:p>
        </p:txBody>
      </p:sp>
      <p:sp>
        <p:nvSpPr>
          <p:cNvPr id="21" name="Заголовок 3">
            <a:extLst>
              <a:ext uri="{FF2B5EF4-FFF2-40B4-BE49-F238E27FC236}">
                <a16:creationId xmlns:a16="http://schemas.microsoft.com/office/drawing/2014/main" id="{97F3051E-6831-7AA3-1FB6-CAF9E6F8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06" y="255011"/>
            <a:ext cx="4363518" cy="659389"/>
          </a:xfrm>
        </p:spPr>
        <p:txBody>
          <a:bodyPr/>
          <a:lstStyle/>
          <a:p>
            <a:pPr algn="ctr"/>
            <a:r>
              <a:rPr lang="en-US" sz="4400" dirty="0"/>
              <a:t>Waterfall</a:t>
            </a:r>
            <a:endParaRPr lang="ru-RU" sz="4400" dirty="0"/>
          </a:p>
        </p:txBody>
      </p:sp>
      <p:sp>
        <p:nvSpPr>
          <p:cNvPr id="22" name="Прямоугольник: усеченные противолежащие углы 21">
            <a:extLst>
              <a:ext uri="{FF2B5EF4-FFF2-40B4-BE49-F238E27FC236}">
                <a16:creationId xmlns:a16="http://schemas.microsoft.com/office/drawing/2014/main" id="{BF2E456B-475E-E0A6-A93D-EC52E6C2B0B0}"/>
              </a:ext>
            </a:extLst>
          </p:cNvPr>
          <p:cNvSpPr/>
          <p:nvPr/>
        </p:nvSpPr>
        <p:spPr>
          <a:xfrm>
            <a:off x="5012989" y="1583600"/>
            <a:ext cx="1828800" cy="654380"/>
          </a:xfrm>
          <a:prstGeom prst="snip2DiagRect">
            <a:avLst/>
          </a:prstGeom>
          <a:solidFill>
            <a:srgbClr val="51C1FF"/>
          </a:solidFill>
          <a:ln w="38100">
            <a:solidFill>
              <a:srgbClr val="8BC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Анализ</a:t>
            </a:r>
          </a:p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требований</a:t>
            </a:r>
          </a:p>
        </p:txBody>
      </p:sp>
      <p:sp>
        <p:nvSpPr>
          <p:cNvPr id="23" name="Прямоугольник: усеченные противолежащие углы 22">
            <a:extLst>
              <a:ext uri="{FF2B5EF4-FFF2-40B4-BE49-F238E27FC236}">
                <a16:creationId xmlns:a16="http://schemas.microsoft.com/office/drawing/2014/main" id="{0EB9D3D7-86F4-8405-C2C5-7C0910B42700}"/>
              </a:ext>
            </a:extLst>
          </p:cNvPr>
          <p:cNvSpPr/>
          <p:nvPr/>
        </p:nvSpPr>
        <p:spPr>
          <a:xfrm>
            <a:off x="6280827" y="2469500"/>
            <a:ext cx="1828800" cy="654380"/>
          </a:xfrm>
          <a:prstGeom prst="snip2DiagRect">
            <a:avLst/>
          </a:prstGeom>
          <a:solidFill>
            <a:srgbClr val="51A0FF"/>
          </a:solidFill>
          <a:ln w="38100">
            <a:solidFill>
              <a:srgbClr val="8BC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Проектирование</a:t>
            </a:r>
          </a:p>
        </p:txBody>
      </p:sp>
      <p:sp>
        <p:nvSpPr>
          <p:cNvPr id="24" name="Прямоугольник: усеченные противолежащие углы 23">
            <a:extLst>
              <a:ext uri="{FF2B5EF4-FFF2-40B4-BE49-F238E27FC236}">
                <a16:creationId xmlns:a16="http://schemas.microsoft.com/office/drawing/2014/main" id="{AD9F0287-9873-8F71-48CA-5303D9C9397C}"/>
              </a:ext>
            </a:extLst>
          </p:cNvPr>
          <p:cNvSpPr/>
          <p:nvPr/>
        </p:nvSpPr>
        <p:spPr>
          <a:xfrm>
            <a:off x="7522725" y="3380475"/>
            <a:ext cx="1828800" cy="654380"/>
          </a:xfrm>
          <a:prstGeom prst="snip2DiagRect">
            <a:avLst/>
          </a:prstGeom>
          <a:solidFill>
            <a:srgbClr val="517AFF"/>
          </a:solidFill>
          <a:ln w="38100">
            <a:solidFill>
              <a:srgbClr val="8BC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Разработка</a:t>
            </a:r>
          </a:p>
        </p:txBody>
      </p:sp>
      <p:sp>
        <p:nvSpPr>
          <p:cNvPr id="25" name="Прямоугольник: усеченные противолежащие углы 24">
            <a:extLst>
              <a:ext uri="{FF2B5EF4-FFF2-40B4-BE49-F238E27FC236}">
                <a16:creationId xmlns:a16="http://schemas.microsoft.com/office/drawing/2014/main" id="{3A764DB8-FF50-2BF9-4CC2-783545DE99BE}"/>
              </a:ext>
            </a:extLst>
          </p:cNvPr>
          <p:cNvSpPr/>
          <p:nvPr/>
        </p:nvSpPr>
        <p:spPr>
          <a:xfrm>
            <a:off x="8767864" y="4323374"/>
            <a:ext cx="1828800" cy="654380"/>
          </a:xfrm>
          <a:prstGeom prst="snip2DiagRect">
            <a:avLst/>
          </a:prstGeom>
          <a:solidFill>
            <a:srgbClr val="3621FF"/>
          </a:solidFill>
          <a:ln w="38100">
            <a:solidFill>
              <a:srgbClr val="8BC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Тестирование</a:t>
            </a:r>
          </a:p>
        </p:txBody>
      </p:sp>
      <p:sp>
        <p:nvSpPr>
          <p:cNvPr id="26" name="Прямоугольник: усеченные противолежащие углы 25">
            <a:extLst>
              <a:ext uri="{FF2B5EF4-FFF2-40B4-BE49-F238E27FC236}">
                <a16:creationId xmlns:a16="http://schemas.microsoft.com/office/drawing/2014/main" id="{6BA12BE0-6F5F-6A53-AEB1-4FF3B6A299CC}"/>
              </a:ext>
            </a:extLst>
          </p:cNvPr>
          <p:cNvSpPr/>
          <p:nvPr/>
        </p:nvSpPr>
        <p:spPr>
          <a:xfrm>
            <a:off x="10000035" y="5182216"/>
            <a:ext cx="1828800" cy="654380"/>
          </a:xfrm>
          <a:prstGeom prst="snip2DiagRect">
            <a:avLst/>
          </a:prstGeom>
          <a:solidFill>
            <a:srgbClr val="2611A2"/>
          </a:solidFill>
          <a:ln w="38100">
            <a:solidFill>
              <a:srgbClr val="8BC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Внедрение</a:t>
            </a:r>
          </a:p>
        </p:txBody>
      </p:sp>
      <p:sp>
        <p:nvSpPr>
          <p:cNvPr id="27" name="Заголовок 3">
            <a:extLst>
              <a:ext uri="{FF2B5EF4-FFF2-40B4-BE49-F238E27FC236}">
                <a16:creationId xmlns:a16="http://schemas.microsoft.com/office/drawing/2014/main" id="{6D722BEB-BA68-B5E4-7FF8-E79CB7089B2C}"/>
              </a:ext>
            </a:extLst>
          </p:cNvPr>
          <p:cNvSpPr txBox="1">
            <a:spLocks/>
          </p:cNvSpPr>
          <p:nvPr/>
        </p:nvSpPr>
        <p:spPr>
          <a:xfrm>
            <a:off x="6216454" y="255011"/>
            <a:ext cx="4363518" cy="659389"/>
          </a:xfrm>
          <a:prstGeom prst="rect">
            <a:avLst/>
          </a:prstGeom>
        </p:spPr>
        <p:txBody>
          <a:bodyPr vert="horz" lIns="109728" tIns="109728" rIns="109728" bIns="9144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ru-RU" sz="4400" dirty="0"/>
              <a:t>Схема </a:t>
            </a:r>
            <a:r>
              <a:rPr lang="en-US" sz="4400" dirty="0"/>
              <a:t>Waterfall</a:t>
            </a:r>
          </a:p>
        </p:txBody>
      </p:sp>
      <p:sp>
        <p:nvSpPr>
          <p:cNvPr id="2" name="Объект 4">
            <a:extLst>
              <a:ext uri="{FF2B5EF4-FFF2-40B4-BE49-F238E27FC236}">
                <a16:creationId xmlns:a16="http://schemas.microsoft.com/office/drawing/2014/main" id="{9EA8CB0F-9297-26CD-FB5D-28C7A5669267}"/>
              </a:ext>
            </a:extLst>
          </p:cNvPr>
          <p:cNvSpPr txBox="1">
            <a:spLocks/>
          </p:cNvSpPr>
          <p:nvPr/>
        </p:nvSpPr>
        <p:spPr>
          <a:xfrm>
            <a:off x="111205" y="914400"/>
            <a:ext cx="4363518" cy="528211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 fontScale="92500"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ru-RU"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66928" indent="-28575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lang="ru-RU" sz="18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/>
              <a:t>Преимущества:</a:t>
            </a:r>
            <a:r>
              <a:rPr lang="ru-RU" sz="2800" dirty="0"/>
              <a:t> предсказуемость, контроль и чёткое распределение обязанностей.</a:t>
            </a:r>
            <a:endParaRPr lang="en-US" sz="2800" dirty="0"/>
          </a:p>
          <a:p>
            <a:br>
              <a:rPr lang="ru-RU" sz="2800" dirty="0"/>
            </a:br>
            <a:r>
              <a:rPr lang="ru-RU" sz="2800" b="1" dirty="0"/>
              <a:t>Недостатки:</a:t>
            </a:r>
            <a:r>
              <a:rPr lang="ru-RU" sz="2800" dirty="0"/>
              <a:t> низкая гибкость — если заказчик меняет требования, внести правки сложнее, особенно при работе на расстоянии.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35C15-92E2-42A1-D06D-D95F2B9EEBD0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824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593A74B-1139-E195-48FC-050CC3BF0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 для коммуникации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B0228-F908-F89A-058C-9C297D576A63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973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38E79D-0FA1-2C06-B25C-85F8E0B9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510" y="110445"/>
            <a:ext cx="5120640" cy="8622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2"/>
                </a:solidFill>
              </a:rPr>
              <a:t>Slack</a:t>
            </a:r>
            <a:endParaRPr lang="ru-RU" sz="4000" dirty="0">
              <a:solidFill>
                <a:schemeClr val="bg2"/>
              </a:solidFill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E7EBFE9D-702C-C68C-3C8A-A67444E74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2903" y="1235412"/>
            <a:ext cx="5505854" cy="4756826"/>
          </a:xfrm>
        </p:spPr>
        <p:txBody>
          <a:bodyPr/>
          <a:lstStyle/>
          <a:p>
            <a:r>
              <a:rPr lang="en-US" sz="2400" b="1" dirty="0"/>
              <a:t>Slack</a:t>
            </a:r>
            <a:r>
              <a:rPr lang="en-US" sz="2400" dirty="0"/>
              <a:t> – </a:t>
            </a:r>
            <a:r>
              <a:rPr lang="ru-RU" sz="2400" dirty="0"/>
              <a:t>платформа для корпоративных чатов.</a:t>
            </a:r>
          </a:p>
          <a:p>
            <a:r>
              <a:rPr lang="ru-RU" sz="2400" b="1" dirty="0"/>
              <a:t>Особенности</a:t>
            </a:r>
            <a:r>
              <a:rPr lang="ru-RU" sz="2400" dirty="0"/>
              <a:t>:</a:t>
            </a:r>
          </a:p>
          <a:p>
            <a:r>
              <a:rPr lang="ru-RU" sz="2400" dirty="0"/>
              <a:t>• тематические каналы по проектам и отделам;</a:t>
            </a:r>
          </a:p>
          <a:p>
            <a:r>
              <a:rPr lang="ru-RU" sz="2400" dirty="0"/>
              <a:t>• возможность интеграции с </a:t>
            </a:r>
            <a:r>
              <a:rPr lang="ru-RU" sz="2400" dirty="0" err="1"/>
              <a:t>Jira</a:t>
            </a:r>
            <a:r>
              <a:rPr lang="ru-RU" sz="2400" dirty="0"/>
              <a:t>, </a:t>
            </a:r>
            <a:r>
              <a:rPr lang="ru-RU" sz="2400" dirty="0" err="1"/>
              <a:t>GitHub</a:t>
            </a:r>
            <a:r>
              <a:rPr lang="ru-RU" sz="2400" dirty="0"/>
              <a:t>, Google Drive;</a:t>
            </a:r>
          </a:p>
          <a:p>
            <a:r>
              <a:rPr lang="ru-RU" sz="2400" dirty="0"/>
              <a:t>• поиск по истории сообщений и файлов;</a:t>
            </a:r>
          </a:p>
          <a:p>
            <a:r>
              <a:rPr lang="ru-RU" sz="2400" dirty="0"/>
              <a:t>• поддержка видеозвонков и реакций на сообщения.</a:t>
            </a:r>
          </a:p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68ED96-0E77-F467-3863-DAA251097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8255"/>
            <a:ext cx="6322979" cy="31614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DE1018-B908-BBAE-815B-317F3539EB98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233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16CE074E-5A70-4465-66B0-FB2FA499E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961" y="81262"/>
            <a:ext cx="5120640" cy="8622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Zoom</a:t>
            </a:r>
            <a:endParaRPr lang="ru-RU" sz="4000" dirty="0">
              <a:solidFill>
                <a:schemeClr val="tx2"/>
              </a:solidFill>
            </a:endParaRPr>
          </a:p>
        </p:txBody>
      </p:sp>
      <p:sp>
        <p:nvSpPr>
          <p:cNvPr id="6" name="Подзаголовок 4">
            <a:extLst>
              <a:ext uri="{FF2B5EF4-FFF2-40B4-BE49-F238E27FC236}">
                <a16:creationId xmlns:a16="http://schemas.microsoft.com/office/drawing/2014/main" id="{E6E3139A-6FC7-268F-28EC-7B7CA8355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457" y="1284051"/>
            <a:ext cx="6033700" cy="4572061"/>
          </a:xfrm>
        </p:spPr>
        <p:txBody>
          <a:bodyPr/>
          <a:lstStyle/>
          <a:p>
            <a:r>
              <a:rPr lang="ru-RU" sz="2400" b="1" dirty="0"/>
              <a:t>Основные функции</a:t>
            </a:r>
            <a:r>
              <a:rPr lang="ru-RU" sz="2400" dirty="0"/>
              <a:t>:</a:t>
            </a:r>
          </a:p>
          <a:p>
            <a:r>
              <a:rPr lang="ru-RU" sz="2400" dirty="0"/>
              <a:t>• проведение видеоконференций, стендапов, презентаций и обучающих сессий;</a:t>
            </a:r>
          </a:p>
          <a:p>
            <a:r>
              <a:rPr lang="ru-RU" sz="2400" dirty="0"/>
              <a:t>• демонстрация экрана и запись встреч;</a:t>
            </a:r>
          </a:p>
          <a:p>
            <a:r>
              <a:rPr lang="ru-RU" sz="2400" dirty="0"/>
              <a:t>• поддержка виртуальных фонов и залов ожидания.</a:t>
            </a:r>
          </a:p>
          <a:p>
            <a:r>
              <a:rPr lang="ru-RU" sz="2400" dirty="0"/>
              <a:t>Zoom обеспечивает «живое» общение, компенсируя отсутствие офлайн-встреч.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2A71E6-1F82-76BC-F3AC-3DB13EB93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442" t="11297" r="18694" b="9553"/>
          <a:stretch>
            <a:fillRect/>
          </a:stretch>
        </p:blipFill>
        <p:spPr>
          <a:xfrm>
            <a:off x="6750995" y="1228116"/>
            <a:ext cx="5229548" cy="46839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3AE090-952C-2E01-F5A6-944308C40A8F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05498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AFDD-69F5-04B2-ED35-F8D6A3B76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91660E6D-927E-4EA0-C2BF-D54A030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510" y="110445"/>
            <a:ext cx="5120640" cy="8622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2"/>
                </a:solidFill>
              </a:rPr>
              <a:t>Microsoft Teams</a:t>
            </a:r>
            <a:endParaRPr lang="ru-RU" sz="4000" dirty="0">
              <a:solidFill>
                <a:schemeClr val="bg2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909A76-8CE6-C6C9-53B4-F9BD573E8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5" y="1888444"/>
            <a:ext cx="6040865" cy="3400144"/>
          </a:xfrm>
          <a:prstGeom prst="rect">
            <a:avLst/>
          </a:prstGeom>
        </p:spPr>
      </p:pic>
      <p:sp>
        <p:nvSpPr>
          <p:cNvPr id="4" name="Подзаголовок 4">
            <a:extLst>
              <a:ext uri="{FF2B5EF4-FFF2-40B4-BE49-F238E27FC236}">
                <a16:creationId xmlns:a16="http://schemas.microsoft.com/office/drawing/2014/main" id="{2759BFF6-E57E-94A8-FF4D-F565FCD68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7260" y="1235412"/>
            <a:ext cx="5611497" cy="4756826"/>
          </a:xfrm>
        </p:spPr>
        <p:txBody>
          <a:bodyPr/>
          <a:lstStyle/>
          <a:p>
            <a:r>
              <a:rPr lang="en-US" sz="2200" b="1" dirty="0"/>
              <a:t>MS </a:t>
            </a:r>
            <a:r>
              <a:rPr lang="ru-RU" sz="2200" b="1" dirty="0" err="1"/>
              <a:t>Teams</a:t>
            </a:r>
            <a:r>
              <a:rPr lang="ru-RU" sz="2200" b="1" dirty="0"/>
              <a:t> </a:t>
            </a:r>
            <a:r>
              <a:rPr lang="ru-RU" sz="2200" dirty="0"/>
              <a:t>объединяет возможности мессенджера, видеосвязи и совместной работы над документами.</a:t>
            </a:r>
          </a:p>
          <a:p>
            <a:r>
              <a:rPr lang="ru-RU" sz="2300" b="1" dirty="0"/>
              <a:t>Преимущества</a:t>
            </a:r>
            <a:r>
              <a:rPr lang="ru-RU" sz="2300" dirty="0"/>
              <a:t>:</a:t>
            </a:r>
          </a:p>
          <a:p>
            <a:r>
              <a:rPr lang="ru-RU" sz="2300" dirty="0"/>
              <a:t>•</a:t>
            </a:r>
            <a:r>
              <a:rPr lang="en-US" sz="2300" dirty="0"/>
              <a:t> </a:t>
            </a:r>
            <a:r>
              <a:rPr lang="ru-RU" sz="2300" dirty="0"/>
              <a:t>глубокая интеграция с Microsoft 365 (Word, Excel, SharePoint, </a:t>
            </a:r>
            <a:r>
              <a:rPr lang="ru-RU" sz="2300" dirty="0" err="1"/>
              <a:t>OneDrive</a:t>
            </a:r>
            <a:r>
              <a:rPr lang="ru-RU" sz="2300" dirty="0"/>
              <a:t>);</a:t>
            </a:r>
          </a:p>
          <a:p>
            <a:r>
              <a:rPr lang="ru-RU" sz="2300" dirty="0"/>
              <a:t>•</a:t>
            </a:r>
            <a:r>
              <a:rPr lang="en-US" sz="2300" dirty="0"/>
              <a:t> </a:t>
            </a:r>
            <a:r>
              <a:rPr lang="ru-RU" sz="2300" dirty="0"/>
              <a:t>создание рабочих пространств по проектам;</a:t>
            </a:r>
          </a:p>
          <a:p>
            <a:r>
              <a:rPr lang="ru-RU" sz="2300" dirty="0"/>
              <a:t>•</a:t>
            </a:r>
            <a:r>
              <a:rPr lang="en-US" sz="2300" dirty="0"/>
              <a:t> </a:t>
            </a:r>
            <a:r>
              <a:rPr lang="ru-RU" sz="2300" dirty="0"/>
              <a:t>возможность хранения файлов и совместного редактирования в реальном времени.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36AC7-8862-B857-2C01-4BFE3AD1DDB3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7201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6849-FF4A-2F3F-4A32-6D5E1657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77F53D71-C3BB-553A-5CE5-6405B77E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961" y="81262"/>
            <a:ext cx="5120640" cy="8622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Miro</a:t>
            </a:r>
            <a:endParaRPr lang="ru-RU" sz="4000" dirty="0">
              <a:solidFill>
                <a:schemeClr val="tx2"/>
              </a:solidFill>
            </a:endParaRPr>
          </a:p>
        </p:txBody>
      </p:sp>
      <p:sp>
        <p:nvSpPr>
          <p:cNvPr id="6" name="Подзаголовок 4">
            <a:extLst>
              <a:ext uri="{FF2B5EF4-FFF2-40B4-BE49-F238E27FC236}">
                <a16:creationId xmlns:a16="http://schemas.microsoft.com/office/drawing/2014/main" id="{D82B0DC6-3C47-B802-D9E4-82D4D753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46" y="1284051"/>
            <a:ext cx="6141784" cy="4572061"/>
          </a:xfrm>
        </p:spPr>
        <p:txBody>
          <a:bodyPr/>
          <a:lstStyle/>
          <a:p>
            <a:r>
              <a:rPr lang="en-US" sz="2400" dirty="0"/>
              <a:t>Miro – </a:t>
            </a:r>
            <a:r>
              <a:rPr lang="ru-RU" sz="2400" dirty="0"/>
              <a:t>интерактивная онлайн-доска для совместной работы.</a:t>
            </a:r>
            <a:endParaRPr lang="en-US" sz="2400" dirty="0"/>
          </a:p>
          <a:p>
            <a:r>
              <a:rPr lang="ru-RU" sz="2400" b="1" dirty="0"/>
              <a:t>Применение</a:t>
            </a:r>
            <a:r>
              <a:rPr lang="ru-RU" sz="2400" dirty="0"/>
              <a:t> в распределённых командах:</a:t>
            </a:r>
          </a:p>
          <a:p>
            <a:r>
              <a:rPr lang="ru-RU" sz="2400" dirty="0"/>
              <a:t>•</a:t>
            </a:r>
            <a:r>
              <a:rPr lang="en-US" sz="2400" dirty="0"/>
              <a:t> </a:t>
            </a:r>
            <a:r>
              <a:rPr lang="ru-RU" sz="2400" dirty="0"/>
              <a:t>мозговые штурмы и </a:t>
            </a:r>
            <a:r>
              <a:rPr lang="ru-RU" sz="2400" dirty="0" err="1"/>
              <a:t>брейншторминг</a:t>
            </a:r>
            <a:r>
              <a:rPr lang="ru-RU" sz="2400" dirty="0"/>
              <a:t>;</a:t>
            </a:r>
          </a:p>
          <a:p>
            <a:r>
              <a:rPr lang="ru-RU" sz="2400" dirty="0"/>
              <a:t>•</a:t>
            </a:r>
            <a:r>
              <a:rPr lang="en-US" sz="2400" dirty="0"/>
              <a:t> </a:t>
            </a:r>
            <a:r>
              <a:rPr lang="ru-RU" sz="2400" dirty="0"/>
              <a:t>визуальное планирование спринтов и дорожных карт (</a:t>
            </a:r>
            <a:r>
              <a:rPr lang="ru-RU" sz="2400" dirty="0" err="1"/>
              <a:t>roadmaps</a:t>
            </a:r>
            <a:r>
              <a:rPr lang="ru-RU" sz="2400" dirty="0"/>
              <a:t>);</a:t>
            </a:r>
          </a:p>
          <a:p>
            <a:r>
              <a:rPr lang="ru-RU" sz="2400" dirty="0"/>
              <a:t>•</a:t>
            </a:r>
            <a:r>
              <a:rPr lang="en-US" sz="2400" dirty="0"/>
              <a:t> </a:t>
            </a:r>
            <a:r>
              <a:rPr lang="ru-RU" sz="2400" dirty="0"/>
              <a:t>создание схем, диаграмм и </a:t>
            </a:r>
            <a:r>
              <a:rPr lang="ru-RU" sz="2400" dirty="0" err="1"/>
              <a:t>mind</a:t>
            </a:r>
            <a:r>
              <a:rPr lang="ru-RU" sz="2400" dirty="0"/>
              <a:t> </a:t>
            </a:r>
            <a:r>
              <a:rPr lang="ru-RU" sz="2400" dirty="0" err="1"/>
              <a:t>map</a:t>
            </a:r>
            <a:r>
              <a:rPr lang="ru-RU" sz="2400" dirty="0"/>
              <a:t>;</a:t>
            </a:r>
          </a:p>
          <a:p>
            <a:r>
              <a:rPr lang="ru-RU" sz="2400" dirty="0"/>
              <a:t>•</a:t>
            </a:r>
            <a:r>
              <a:rPr lang="en-US" sz="2400" dirty="0"/>
              <a:t> </a:t>
            </a:r>
            <a:r>
              <a:rPr lang="ru-RU" sz="2400" dirty="0"/>
              <a:t>проведение ретроспектив и дизайн-сессий.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CB8874-AF94-8D03-C9E2-7702C2E1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401" y="836578"/>
            <a:ext cx="5680953" cy="56809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A204EF-B807-2F34-1ED1-52B66126504A}"/>
              </a:ext>
            </a:extLst>
          </p:cNvPr>
          <p:cNvSpPr txBox="1"/>
          <p:nvPr/>
        </p:nvSpPr>
        <p:spPr>
          <a:xfrm>
            <a:off x="11342451" y="6206247"/>
            <a:ext cx="6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450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55B93A9-41A2-D812-85A4-5BBAD3009C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sz="6600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080944794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Calibri"/>
      </a:majorFont>
      <a:minorFont>
        <a:latin typeface="Meiryo"/>
        <a:ea typeface=""/>
        <a:cs typeface="Calibri"/>
      </a:minorFont>
    </a:fontScheme>
    <a:fmtScheme name="Перья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00440_Win32_SL_V16" id="{CF0BD908-D97F-4F3D-93F8-5C13D62FEC7B}" vid="{3157B129-F0C3-4A9B-9964-A8F791E45FA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</TotalTime>
  <Words>408</Words>
  <Application>Microsoft Office PowerPoint</Application>
  <PresentationFormat>Широкоэкранный</PresentationFormat>
  <Paragraphs>86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Wingdings</vt:lpstr>
      <vt:lpstr>Пользовательская</vt:lpstr>
      <vt:lpstr>Коммуникация и взаимодействие в распределенных ИТ-командах</vt:lpstr>
      <vt:lpstr>Распределенные it-команды</vt:lpstr>
      <vt:lpstr>Применение методологий в распределенных  IT-командах</vt:lpstr>
      <vt:lpstr>Scrum</vt:lpstr>
      <vt:lpstr>Презентация PowerPoint</vt:lpstr>
      <vt:lpstr>Waterfall</vt:lpstr>
      <vt:lpstr>Инструменты для коммуникации</vt:lpstr>
      <vt:lpstr>Slack</vt:lpstr>
      <vt:lpstr>Zoom</vt:lpstr>
      <vt:lpstr>Microsoft Teams</vt:lpstr>
      <vt:lpstr>Miro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ghost admin</dc:creator>
  <cp:lastModifiedBy>ghost admin</cp:lastModifiedBy>
  <cp:revision>11</cp:revision>
  <dcterms:created xsi:type="dcterms:W3CDTF">2025-10-29T14:29:57Z</dcterms:created>
  <dcterms:modified xsi:type="dcterms:W3CDTF">2025-10-30T01:39:41Z</dcterms:modified>
</cp:coreProperties>
</file>